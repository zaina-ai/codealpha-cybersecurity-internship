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Canva Sans Bold" panose="020B0604020202020204" charset="0"/>
      <p:regular r:id="rId17"/>
    </p:embeddedFont>
    <p:embeddedFont>
      <p:font typeface="Comic Sans" panose="020B0604020202020204" charset="0"/>
      <p:regular r:id="rId18"/>
    </p:embeddedFont>
    <p:embeddedFont>
      <p:font typeface="Comic Sans Bold" panose="020B0604020202020204" charset="0"/>
      <p:regular r:id="rId19"/>
    </p:embeddedFont>
    <p:embeddedFont>
      <p:font typeface="Comic Sans Bold Italics" panose="020B0604020202020204" charset="0"/>
      <p:regular r:id="rId20"/>
    </p:embeddedFont>
    <p:embeddedFont>
      <p:font typeface="Cooper BT Bold Italics" panose="020B0604020202020204" charset="0"/>
      <p:regular r:id="rId21"/>
    </p:embeddedFont>
    <p:embeddedFont>
      <p:font typeface="Etna Sans Serif" panose="020B0604020202020204" charset="0"/>
      <p:regular r:id="rId22"/>
    </p:embeddedFont>
    <p:embeddedFont>
      <p:font typeface="TT For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9" d="100"/>
          <a:sy n="49" d="100"/>
        </p:scale>
        <p:origin x="3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Good morning/afternoon everyone. This presentation covers phishing awareness and cybersecurity practices, highlighting the prevalence of phishing attacks that impact individuals and organizations globally. It will explain how these attacks work, the tactics used by attackers, and effective strategies to recognize and avoid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Different phishing attacks aim to deceive victims into sharing sensitive information, utilizing various communication methods such as emails, texts, phone calls, and social media. These tactics often mimic legitimate organizations, creating a false sense of security. For example, an email may seem to be from a trusted bank, urging immediate action. To protect oneself, it’s important to verify the source of unexpected communications and avoid clicking on suspicious links. Staying informed and cautious can help safeguard personal data and privacy against these scams.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Phishing attacks rely heavily on deception and human error rather than advanced technical hacking. Attackers create messages that appear legitimate to trick users into clicking links, downloading files, or entering confidential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Attackers exploit emotions to bypass logical thinking, causing many phishing attacks to succeed. They often manipulate feelings of urgency, fear, or curiosity, leading victims to click malicious links or share sensitive information. To counter this, individuals should pause and scrutinize unexpected communications, fostering critical evaluation and awareness. Staying informed about phishing trends and using security tools can also help block threats. Remaining calm and vigilant is essential for protecting personal information online.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Users should carefully inspect emails before responding or clicking links. Even small details can reveal phishing attempts.</a:t>
            </a:r>
          </a:p>
          <a:p>
            <a:endParaRPr lang="en-US"/>
          </a:p>
          <a:p>
            <a:r>
              <a:rPr lang="en-US"/>
              <a:t>Be wary of unfamiliar sender addresses, spelling errors, and urgent requests for personal information. These are common red flags. Additionally, hover over links to verify their destination before clicking. If in doubt, contact the source directly using a trusted method to confirm the email's legitimacy. Remember, taking a moment to scrutinize can protect you from potential security threats.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this slide, we’re exploring the world of fake websites and URLs, a common tool used by cybercriminals to deceive users.</a:t>
            </a:r>
          </a:p>
          <a:p>
            <a:endParaRPr lang="en-US"/>
          </a:p>
          <a:p>
            <a:r>
              <a:rPr lang="en-US"/>
              <a:t>First, let's highlight some common signs of these fake websites. Often, you'll notice misspelled domain names that are easy to overlook but crucial to identify. Also, be on the lookout for the absence of the HTTPS security lock—this is a clear red flag. Poor website design and strange pop-ups can also indicate something is amiss. Finally, any unsolicited request for sensitive information should raise immediate concern.</a:t>
            </a:r>
          </a:p>
          <a:p>
            <a:endParaRPr lang="en-US"/>
          </a:p>
          <a:p>
            <a:r>
              <a:rPr lang="en-US"/>
              <a:t>Now, you may wonder: how do these fake websites track users? Cybercriminals often use these sites to collect data through forms or by embedding tracking scripts that capture your personal information without your consent.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Many users neglect website URLs, risking credential theft. To enhance safety, verify URLs before entering personal information, especially for sensitive accounts. Look for security indicators like a padlock icon, and be cautious of altered URLs. A password manager can help identify legitimate sites, while staying informed about phishing and updating security software boosts protection. A moment of vigilance can prevent major online problems.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Phishing attacks often mimic well-known organizations to gain user trust, usually through emails or messages that appear legitimate. These messages typically urge recipients to click links for account verification or prize claims, leading to fraudulent sites that steal sensitive information. To protect against phishing, verify sender email addresses, be cautious of urgent requests, and look for signs like spelling errors. Enabling two-factor authentication and using security software adds protection. When unsure, contact the organization directly through official channels to confirm legitimacy.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discussing the consequences of phishing attacks, it's crucial to emphasize the various severe impacts they can have on individuals and organizations alike. </a:t>
            </a:r>
          </a:p>
          <a:p>
            <a:endParaRPr lang="en-US"/>
          </a:p>
          <a:p>
            <a:r>
              <a:rPr lang="en-US"/>
              <a:t>First, let's talk about financial loss. Phishing attacks can lead to significant monetary setbacks. Attackers might steal bank information or make unauthorized purchases, directly affecting the victim's financial stability. </a:t>
            </a:r>
          </a:p>
          <a:p>
            <a:endParaRPr lang="en-US"/>
          </a:p>
          <a:p>
            <a:r>
              <a:rPr lang="en-US"/>
              <a:t>Next, consider the data breaches that can occur. Organizations may lose sensitive information such as customer data, employee records, and confidential business details. This not only impacts the business financially but also damages its reputation.</a:t>
            </a:r>
          </a:p>
          <a:p>
            <a:endParaRPr lang="en-US"/>
          </a:p>
          <a:p>
            <a:r>
              <a:rPr lang="en-US"/>
              <a:t>Identity theft is another grave consequence. Attackers can use stolen information to open accounts in the victim's name or commit various types of fraud. This can lead to long-term personal and financial ramifications for the victim.</a:t>
            </a:r>
          </a:p>
          <a:p>
            <a:endParaRPr lang="en-US"/>
          </a:p>
          <a:p>
            <a:r>
              <a:rPr lang="en-US"/>
              <a:t>Lastly, phishing emails can install malware, including viruses, ransomware, and spyware. These can further compromise personal and organizational security, leading to additional loss and damage. </a:t>
            </a:r>
          </a:p>
          <a:p>
            <a:endParaRPr lang="en-US"/>
          </a:p>
          <a:p>
            <a:r>
              <a:rPr lang="en-US"/>
              <a:t>Understanding these consequences underscores the importance of being vigilant against phishing attempts. Let's work together to stay informed and protect ourselves from these threats.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that we've explored the consequences of phishing attacks, let's shift our focus to how we can protect ourselves from these threats. By following some best practices, we can significantly reduce our risk of falling victim to phishing.</a:t>
            </a:r>
          </a:p>
          <a:p>
            <a:endParaRPr lang="en-US"/>
          </a:p>
          <a:p>
            <a:r>
              <a:rPr lang="en-US"/>
              <a:t>First, it's crucial to verify the sender's identity. Always double-check email addresses to ensure they are legitimate. This simple step can prevent many phishing attempts.</a:t>
            </a:r>
          </a:p>
          <a:p>
            <a:endParaRPr lang="en-US"/>
          </a:p>
          <a:p>
            <a:r>
              <a:rPr lang="en-US"/>
              <a:t>Second, avoid clicking on unknown links. If you're unsure about a link's authenticity, it's safer to type the official website address manually into your browser. This habit can help you steer clear of malicious sites.</a:t>
            </a:r>
          </a:p>
          <a:p>
            <a:endParaRPr lang="en-US"/>
          </a:p>
          <a:p>
            <a:r>
              <a:rPr lang="en-US"/>
              <a:t>Next, enable multi-factor authentication on your accounts whenever possible. This adds an extra layer of security that can protect your information even if your password is compromised.</a:t>
            </a:r>
          </a:p>
          <a:p>
            <a:endParaRPr lang="en-US"/>
          </a:p>
          <a:p>
            <a:r>
              <a:rPr lang="en-US"/>
              <a:t>Speaking of passwords, using strong, unique passwords is essential. Consider using a password manager to help you keep track of them securely.</a:t>
            </a:r>
          </a:p>
          <a:p>
            <a:endParaRPr lang="en-US"/>
          </a:p>
          <a:p>
            <a:r>
              <a:rPr lang="en-US"/>
              <a:t>Keeping your software up to date is another vital step. Updates often include fixes for security vulnerabilities, so don't delay installing them.</a:t>
            </a:r>
          </a:p>
          <a:p>
            <a:endParaRPr lang="en-US"/>
          </a:p>
          <a:p>
            <a:r>
              <a:rPr lang="en-US"/>
              <a:t>Finally, don't hesitate to report suspicious emails. Forwarding these messages to your IT department or email provider can help protect the wider community.</a:t>
            </a:r>
          </a:p>
          <a:p>
            <a:endParaRPr lang="en-US"/>
          </a:p>
          <a:p>
            <a:r>
              <a:rPr lang="en-US"/>
              <a:t>Remember, these practices not only protect you but also contribute to a safer digital environment for everyone. Let's all be vigilant and proactive in safeguarding our information.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we wrap up our discussion on phishing attacks, let's focus on the key takeaways from today. </a:t>
            </a:r>
          </a:p>
          <a:p>
            <a:endParaRPr lang="en-US"/>
          </a:p>
          <a:p>
            <a:r>
              <a:rPr lang="en-US"/>
              <a:t>First and foremost, phishing attacks are designed to exploit human behavior. </a:t>
            </a:r>
          </a:p>
          <a:p>
            <a:endParaRPr lang="en-US"/>
          </a:p>
          <a:p>
            <a:r>
              <a:rPr lang="en-US"/>
              <a:t>Attackers often use tactics like deception and urgency to manipulate us into making quick decisions without proper scrutiny. It's crucial that we remain vigilant and inspect emails and websites carefully. This simple act can drastically reduce the risk of falling victim to these attacks.</a:t>
            </a:r>
          </a:p>
          <a:p>
            <a:endParaRPr lang="en-US"/>
          </a:p>
          <a:p>
            <a:r>
              <a:rPr lang="en-US"/>
              <a:t>Another important point is that cybersecurity awareness is our most powerful tool against phishing. By educating ourselves and others, we can create a more secure environment. Remember to always verify the legitimacy of links and requests for information before acting on them. </a:t>
            </a:r>
          </a:p>
          <a:p>
            <a:endParaRPr lang="en-US"/>
          </a:p>
          <a:p>
            <a:r>
              <a:rPr lang="en-US"/>
              <a:t>Finally, keep this thought in mind: “Think before you click.” Just a moment's pause could protect you from significant harm. Thank you for your attention today, and let's continue to stay informed and vigilant.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hyperlink" Target="https://support.microsoft.com/en-us/security/protect-yourself-from-phishing?utm_source=chatgpt.com" TargetMode="External"/><Relationship Id="rId7" Type="http://schemas.openxmlformats.org/officeDocument/2006/relationships/image" Target="../media/image21.svg"/><Relationship Id="rId2" Type="http://schemas.openxmlformats.org/officeDocument/2006/relationships/hyperlink" Target="https://www.cisa.gov/secure-our-world/recognize-and-report-phishing?utm_source=chatgpt.com" TargetMode="External"/><Relationship Id="rId1" Type="http://schemas.openxmlformats.org/officeDocument/2006/relationships/slideLayout" Target="../slideLayouts/slideLayout7.xml"/><Relationship Id="rId6" Type="http://schemas.openxmlformats.org/officeDocument/2006/relationships/hyperlink" Target="https://us.norton.com/blog/online-scams/phishing-email-examples?utm_source=chatgpt.com" TargetMode="External"/><Relationship Id="rId5" Type="http://schemas.openxmlformats.org/officeDocument/2006/relationships/hyperlink" Target="https://www.kaspersky.com/resource-center/preemptive-safety/phishing-prevention-tips?utm_source=chatgpt.com" TargetMode="External"/><Relationship Id="rId4" Type="http://schemas.openxmlformats.org/officeDocument/2006/relationships/hyperlink" Target="https://www.ibm.com/think/topics/phishing?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8188275" y="4286544"/>
            <a:ext cx="9196286" cy="856956"/>
            <a:chOff x="0" y="0"/>
            <a:chExt cx="2422067" cy="225700"/>
          </a:xfrm>
        </p:grpSpPr>
        <p:sp>
          <p:nvSpPr>
            <p:cNvPr id="3" name="Freeform 3"/>
            <p:cNvSpPr/>
            <p:nvPr/>
          </p:nvSpPr>
          <p:spPr>
            <a:xfrm>
              <a:off x="0" y="0"/>
              <a:ext cx="2422067" cy="225700"/>
            </a:xfrm>
            <a:custGeom>
              <a:avLst/>
              <a:gdLst/>
              <a:ahLst/>
              <a:cxnLst/>
              <a:rect l="l" t="t" r="r" b="b"/>
              <a:pathLst>
                <a:path w="2422067" h="225700">
                  <a:moveTo>
                    <a:pt x="84185" y="0"/>
                  </a:moveTo>
                  <a:lnTo>
                    <a:pt x="2337882" y="0"/>
                  </a:lnTo>
                  <a:cubicBezTo>
                    <a:pt x="2360209" y="0"/>
                    <a:pt x="2381622" y="8869"/>
                    <a:pt x="2397410" y="24657"/>
                  </a:cubicBezTo>
                  <a:cubicBezTo>
                    <a:pt x="2413198" y="40445"/>
                    <a:pt x="2422067" y="61858"/>
                    <a:pt x="2422067" y="84185"/>
                  </a:cubicBezTo>
                  <a:lnTo>
                    <a:pt x="2422067" y="141515"/>
                  </a:lnTo>
                  <a:cubicBezTo>
                    <a:pt x="2422067" y="163842"/>
                    <a:pt x="2413198" y="185255"/>
                    <a:pt x="2397410" y="201043"/>
                  </a:cubicBezTo>
                  <a:cubicBezTo>
                    <a:pt x="2381622" y="216831"/>
                    <a:pt x="2360209" y="225700"/>
                    <a:pt x="2337882" y="225700"/>
                  </a:cubicBezTo>
                  <a:lnTo>
                    <a:pt x="84185" y="225700"/>
                  </a:lnTo>
                  <a:cubicBezTo>
                    <a:pt x="61858" y="225700"/>
                    <a:pt x="40445" y="216831"/>
                    <a:pt x="24657" y="201043"/>
                  </a:cubicBezTo>
                  <a:cubicBezTo>
                    <a:pt x="8869" y="185255"/>
                    <a:pt x="0" y="163842"/>
                    <a:pt x="0" y="141515"/>
                  </a:cubicBezTo>
                  <a:lnTo>
                    <a:pt x="0" y="84185"/>
                  </a:lnTo>
                  <a:cubicBezTo>
                    <a:pt x="0" y="61858"/>
                    <a:pt x="8869" y="40445"/>
                    <a:pt x="24657" y="24657"/>
                  </a:cubicBezTo>
                  <a:cubicBezTo>
                    <a:pt x="40445" y="8869"/>
                    <a:pt x="61858" y="0"/>
                    <a:pt x="84185" y="0"/>
                  </a:cubicBezTo>
                  <a:close/>
                </a:path>
              </a:pathLst>
            </a:custGeom>
            <a:solidFill>
              <a:srgbClr val="2657C1"/>
            </a:solidFill>
          </p:spPr>
          <p:txBody>
            <a:bodyPr/>
            <a:lstStyle/>
            <a:p>
              <a:endParaRPr lang="en-US"/>
            </a:p>
          </p:txBody>
        </p:sp>
        <p:sp>
          <p:nvSpPr>
            <p:cNvPr id="4" name="TextBox 4"/>
            <p:cNvSpPr txBox="1"/>
            <p:nvPr/>
          </p:nvSpPr>
          <p:spPr>
            <a:xfrm>
              <a:off x="0" y="-47625"/>
              <a:ext cx="2422067" cy="273325"/>
            </a:xfrm>
            <a:prstGeom prst="rect">
              <a:avLst/>
            </a:prstGeom>
          </p:spPr>
          <p:txBody>
            <a:bodyPr lIns="50800" tIns="50800" rIns="50800" bIns="50800" rtlCol="0" anchor="ctr"/>
            <a:lstStyle/>
            <a:p>
              <a:pPr algn="ctr">
                <a:lnSpc>
                  <a:spcPts val="3151"/>
                </a:lnSpc>
              </a:pPr>
              <a:endParaRPr/>
            </a:p>
          </p:txBody>
        </p:sp>
      </p:grpSp>
      <p:sp>
        <p:nvSpPr>
          <p:cNvPr id="5" name="Freeform 5"/>
          <p:cNvSpPr/>
          <p:nvPr/>
        </p:nvSpPr>
        <p:spPr>
          <a:xfrm>
            <a:off x="829408" y="1338895"/>
            <a:ext cx="6454967" cy="8076003"/>
          </a:xfrm>
          <a:custGeom>
            <a:avLst/>
            <a:gdLst/>
            <a:ahLst/>
            <a:cxnLst/>
            <a:rect l="l" t="t" r="r" b="b"/>
            <a:pathLst>
              <a:path w="6454967" h="8076003">
                <a:moveTo>
                  <a:pt x="0" y="0"/>
                </a:moveTo>
                <a:lnTo>
                  <a:pt x="6454967" y="0"/>
                </a:lnTo>
                <a:lnTo>
                  <a:pt x="6454967" y="8076003"/>
                </a:lnTo>
                <a:lnTo>
                  <a:pt x="0" y="80760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7259300" y="643948"/>
            <a:ext cx="2486513" cy="2486513"/>
          </a:xfrm>
          <a:custGeom>
            <a:avLst/>
            <a:gdLst/>
            <a:ahLst/>
            <a:cxnLst/>
            <a:rect l="l" t="t" r="r" b="b"/>
            <a:pathLst>
              <a:path w="2486513" h="2486513">
                <a:moveTo>
                  <a:pt x="0" y="0"/>
                </a:moveTo>
                <a:lnTo>
                  <a:pt x="2486513" y="0"/>
                </a:lnTo>
                <a:lnTo>
                  <a:pt x="2486513" y="2486514"/>
                </a:lnTo>
                <a:lnTo>
                  <a:pt x="0" y="2486514"/>
                </a:lnTo>
                <a:lnTo>
                  <a:pt x="0" y="0"/>
                </a:lnTo>
                <a:close/>
              </a:path>
            </a:pathLst>
          </a:custGeom>
          <a:blipFill>
            <a:blip r:embed="rId4"/>
            <a:stretch>
              <a:fillRect/>
            </a:stretch>
          </a:blipFill>
        </p:spPr>
        <p:txBody>
          <a:bodyPr/>
          <a:lstStyle/>
          <a:p>
            <a:endParaRPr lang="en-US"/>
          </a:p>
        </p:txBody>
      </p:sp>
      <p:sp>
        <p:nvSpPr>
          <p:cNvPr id="7" name="Freeform 7"/>
          <p:cNvSpPr/>
          <p:nvPr/>
        </p:nvSpPr>
        <p:spPr>
          <a:xfrm>
            <a:off x="-1686627" y="8759894"/>
            <a:ext cx="4029515" cy="4029515"/>
          </a:xfrm>
          <a:custGeom>
            <a:avLst/>
            <a:gdLst/>
            <a:ahLst/>
            <a:cxnLst/>
            <a:rect l="l" t="t" r="r" b="b"/>
            <a:pathLst>
              <a:path w="4029515" h="4029515">
                <a:moveTo>
                  <a:pt x="0" y="0"/>
                </a:moveTo>
                <a:lnTo>
                  <a:pt x="4029515" y="0"/>
                </a:lnTo>
                <a:lnTo>
                  <a:pt x="4029515" y="4029515"/>
                </a:lnTo>
                <a:lnTo>
                  <a:pt x="0" y="4029515"/>
                </a:lnTo>
                <a:lnTo>
                  <a:pt x="0" y="0"/>
                </a:lnTo>
                <a:close/>
              </a:path>
            </a:pathLst>
          </a:custGeom>
          <a:blipFill>
            <a:blip r:embed="rId4"/>
            <a:stretch>
              <a:fillRect/>
            </a:stretch>
          </a:blipFill>
        </p:spPr>
        <p:txBody>
          <a:bodyPr/>
          <a:lstStyle/>
          <a:p>
            <a:endParaRPr lang="en-US"/>
          </a:p>
        </p:txBody>
      </p:sp>
      <p:sp>
        <p:nvSpPr>
          <p:cNvPr id="8" name="Freeform 8"/>
          <p:cNvSpPr/>
          <p:nvPr/>
        </p:nvSpPr>
        <p:spPr>
          <a:xfrm>
            <a:off x="16527499" y="8569313"/>
            <a:ext cx="3521003" cy="3521003"/>
          </a:xfrm>
          <a:custGeom>
            <a:avLst/>
            <a:gdLst/>
            <a:ahLst/>
            <a:cxnLst/>
            <a:rect l="l" t="t" r="r" b="b"/>
            <a:pathLst>
              <a:path w="3521003" h="3521003">
                <a:moveTo>
                  <a:pt x="0" y="0"/>
                </a:moveTo>
                <a:lnTo>
                  <a:pt x="3521002" y="0"/>
                </a:lnTo>
                <a:lnTo>
                  <a:pt x="3521002" y="3521003"/>
                </a:lnTo>
                <a:lnTo>
                  <a:pt x="0" y="35210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9" name="Group 9"/>
          <p:cNvGrpSpPr/>
          <p:nvPr/>
        </p:nvGrpSpPr>
        <p:grpSpPr>
          <a:xfrm>
            <a:off x="0" y="0"/>
            <a:ext cx="18288000" cy="213007"/>
            <a:chOff x="0" y="0"/>
            <a:chExt cx="4816593" cy="56101"/>
          </a:xfrm>
        </p:grpSpPr>
        <p:sp>
          <p:nvSpPr>
            <p:cNvPr id="10" name="Freeform 10"/>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11" name="TextBox 11"/>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12" name="Freeform 12"/>
          <p:cNvSpPr/>
          <p:nvPr/>
        </p:nvSpPr>
        <p:spPr>
          <a:xfrm>
            <a:off x="10518992" y="6871578"/>
            <a:ext cx="4534852" cy="3395471"/>
          </a:xfrm>
          <a:custGeom>
            <a:avLst/>
            <a:gdLst/>
            <a:ahLst/>
            <a:cxnLst/>
            <a:rect l="l" t="t" r="r" b="b"/>
            <a:pathLst>
              <a:path w="4534852" h="3395471">
                <a:moveTo>
                  <a:pt x="0" y="0"/>
                </a:moveTo>
                <a:lnTo>
                  <a:pt x="4534853" y="0"/>
                </a:lnTo>
                <a:lnTo>
                  <a:pt x="4534853" y="3395470"/>
                </a:lnTo>
                <a:lnTo>
                  <a:pt x="0" y="3395470"/>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7787691" y="1529395"/>
            <a:ext cx="9997454" cy="2282190"/>
          </a:xfrm>
          <a:prstGeom prst="rect">
            <a:avLst/>
          </a:prstGeom>
        </p:spPr>
        <p:txBody>
          <a:bodyPr lIns="0" tIns="0" rIns="0" bIns="0" rtlCol="0" anchor="t">
            <a:spAutoFit/>
          </a:bodyPr>
          <a:lstStyle/>
          <a:p>
            <a:pPr algn="ctr">
              <a:lnSpc>
                <a:spcPts val="8730"/>
              </a:lnSpc>
            </a:pPr>
            <a:r>
              <a:rPr lang="en-US" sz="9000" spc="-89">
                <a:solidFill>
                  <a:srgbClr val="2657C1"/>
                </a:solidFill>
                <a:latin typeface="Etna Sans Serif"/>
                <a:ea typeface="Etna Sans Serif"/>
                <a:cs typeface="Etna Sans Serif"/>
                <a:sym typeface="Etna Sans Serif"/>
              </a:rPr>
              <a:t>Phishing Awareness Training</a:t>
            </a:r>
          </a:p>
        </p:txBody>
      </p:sp>
      <p:sp>
        <p:nvSpPr>
          <p:cNvPr id="14" name="TextBox 14"/>
          <p:cNvSpPr txBox="1"/>
          <p:nvPr/>
        </p:nvSpPr>
        <p:spPr>
          <a:xfrm>
            <a:off x="8313537" y="4383284"/>
            <a:ext cx="8945763" cy="596802"/>
          </a:xfrm>
          <a:prstGeom prst="rect">
            <a:avLst/>
          </a:prstGeom>
        </p:spPr>
        <p:txBody>
          <a:bodyPr lIns="0" tIns="0" rIns="0" bIns="0" rtlCol="0" anchor="t">
            <a:spAutoFit/>
          </a:bodyPr>
          <a:lstStyle/>
          <a:p>
            <a:pPr marL="0" lvl="0" indent="0" algn="ctr">
              <a:lnSpc>
                <a:spcPts val="4905"/>
              </a:lnSpc>
              <a:spcBef>
                <a:spcPct val="0"/>
              </a:spcBef>
            </a:pPr>
            <a:r>
              <a:rPr lang="en-US" sz="3503" b="1">
                <a:solidFill>
                  <a:srgbClr val="F7F7F7"/>
                </a:solidFill>
                <a:latin typeface="TT Fors Bold"/>
                <a:ea typeface="TT Fors Bold"/>
                <a:cs typeface="TT Fors Bold"/>
                <a:sym typeface="TT Fors Bold"/>
              </a:rPr>
              <a:t>CodeAlpha Cyber Security Internship</a:t>
            </a:r>
          </a:p>
        </p:txBody>
      </p:sp>
      <p:sp>
        <p:nvSpPr>
          <p:cNvPr id="15" name="TextBox 15"/>
          <p:cNvSpPr txBox="1"/>
          <p:nvPr/>
        </p:nvSpPr>
        <p:spPr>
          <a:xfrm>
            <a:off x="9448801" y="5310222"/>
            <a:ext cx="5992018" cy="580389"/>
          </a:xfrm>
          <a:prstGeom prst="rect">
            <a:avLst/>
          </a:prstGeom>
        </p:spPr>
        <p:txBody>
          <a:bodyPr wrap="square" lIns="0" tIns="0" rIns="0" bIns="0" rtlCol="0" anchor="t">
            <a:spAutoFit/>
          </a:bodyPr>
          <a:lstStyle/>
          <a:p>
            <a:pPr algn="ctr">
              <a:lnSpc>
                <a:spcPts val="4760"/>
              </a:lnSpc>
            </a:pPr>
            <a:r>
              <a:rPr lang="en-US" sz="3400" b="1" dirty="0">
                <a:solidFill>
                  <a:srgbClr val="182D88"/>
                </a:solidFill>
                <a:latin typeface="Canva Sans Bold"/>
                <a:ea typeface="Canva Sans Bold"/>
                <a:cs typeface="Canva Sans Bold"/>
                <a:sym typeface="Canva Sans Bold"/>
              </a:rPr>
              <a:t>Presented By: Zaina Niazi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840822">
            <a:off x="13246318" y="3697515"/>
            <a:ext cx="5500581" cy="3880410"/>
          </a:xfrm>
          <a:custGeom>
            <a:avLst/>
            <a:gdLst/>
            <a:ahLst/>
            <a:cxnLst/>
            <a:rect l="l" t="t" r="r" b="b"/>
            <a:pathLst>
              <a:path w="5500581" h="3880410">
                <a:moveTo>
                  <a:pt x="0" y="0"/>
                </a:moveTo>
                <a:lnTo>
                  <a:pt x="5500581" y="0"/>
                </a:lnTo>
                <a:lnTo>
                  <a:pt x="5500581" y="3880410"/>
                </a:lnTo>
                <a:lnTo>
                  <a:pt x="0" y="38804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4" name="Freeform 4"/>
          <p:cNvSpPr/>
          <p:nvPr/>
        </p:nvSpPr>
        <p:spPr>
          <a:xfrm>
            <a:off x="15166681" y="8062234"/>
            <a:ext cx="4185238" cy="4185238"/>
          </a:xfrm>
          <a:custGeom>
            <a:avLst/>
            <a:gdLst/>
            <a:ahLst/>
            <a:cxnLst/>
            <a:rect l="l" t="t" r="r" b="b"/>
            <a:pathLst>
              <a:path w="4185238" h="4185238">
                <a:moveTo>
                  <a:pt x="0" y="0"/>
                </a:moveTo>
                <a:lnTo>
                  <a:pt x="4185238" y="0"/>
                </a:lnTo>
                <a:lnTo>
                  <a:pt x="4185238" y="4185238"/>
                </a:lnTo>
                <a:lnTo>
                  <a:pt x="0" y="41852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0" y="0"/>
            <a:ext cx="18288000" cy="213007"/>
            <a:chOff x="0" y="0"/>
            <a:chExt cx="4816593" cy="56101"/>
          </a:xfrm>
        </p:grpSpPr>
        <p:sp>
          <p:nvSpPr>
            <p:cNvPr id="6" name="Freeform 6"/>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7" name="TextBox 7"/>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8" name="TextBox 8"/>
          <p:cNvSpPr txBox="1"/>
          <p:nvPr/>
        </p:nvSpPr>
        <p:spPr>
          <a:xfrm>
            <a:off x="1872060" y="604877"/>
            <a:ext cx="15023173" cy="1019097"/>
          </a:xfrm>
          <a:prstGeom prst="rect">
            <a:avLst/>
          </a:prstGeom>
        </p:spPr>
        <p:txBody>
          <a:bodyPr lIns="0" tIns="0" rIns="0" bIns="0" rtlCol="0" anchor="t">
            <a:spAutoFit/>
          </a:bodyPr>
          <a:lstStyle/>
          <a:p>
            <a:pPr algn="ctr">
              <a:lnSpc>
                <a:spcPts val="7588"/>
              </a:lnSpc>
            </a:pPr>
            <a:r>
              <a:rPr lang="en-US" sz="7823" spc="-78">
                <a:solidFill>
                  <a:srgbClr val="2657C1"/>
                </a:solidFill>
                <a:latin typeface="Etna Sans Serif"/>
                <a:ea typeface="Etna Sans Serif"/>
                <a:cs typeface="Etna Sans Serif"/>
                <a:sym typeface="Etna Sans Serif"/>
              </a:rPr>
              <a:t>Introduction to Phishing</a:t>
            </a:r>
          </a:p>
        </p:txBody>
      </p:sp>
      <p:sp>
        <p:nvSpPr>
          <p:cNvPr id="9" name="TextBox 9"/>
          <p:cNvSpPr txBox="1"/>
          <p:nvPr/>
        </p:nvSpPr>
        <p:spPr>
          <a:xfrm>
            <a:off x="437072" y="1827808"/>
            <a:ext cx="16458161" cy="4392930"/>
          </a:xfrm>
          <a:prstGeom prst="rect">
            <a:avLst/>
          </a:prstGeom>
        </p:spPr>
        <p:txBody>
          <a:bodyPr lIns="0" tIns="0" rIns="0" bIns="0" rtlCol="0" anchor="t">
            <a:spAutoFit/>
          </a:bodyPr>
          <a:lstStyle/>
          <a:p>
            <a:pPr algn="just">
              <a:lnSpc>
                <a:spcPts val="4199"/>
              </a:lnSpc>
            </a:pPr>
            <a:r>
              <a:rPr lang="en-US" sz="2999" b="1">
                <a:solidFill>
                  <a:srgbClr val="182D88"/>
                </a:solidFill>
                <a:latin typeface="Canva Sans Bold"/>
                <a:ea typeface="Canva Sans Bold"/>
                <a:cs typeface="Canva Sans Bold"/>
                <a:sym typeface="Canva Sans Bold"/>
              </a:rPr>
              <a:t>Phishing is a cyberattack where attackers pretend to be trusted organizations or individuals in order to steal sensitive information such as:</a:t>
            </a:r>
          </a:p>
          <a:p>
            <a:pPr marL="647695" lvl="1" indent="-323848" algn="just">
              <a:lnSpc>
                <a:spcPts val="4199"/>
              </a:lnSpc>
              <a:buFont typeface="Arial"/>
              <a:buChar char="•"/>
            </a:pPr>
            <a:r>
              <a:rPr lang="en-US" sz="2999" b="1">
                <a:solidFill>
                  <a:srgbClr val="182D88"/>
                </a:solidFill>
                <a:latin typeface="Canva Sans Bold"/>
                <a:ea typeface="Canva Sans Bold"/>
                <a:cs typeface="Canva Sans Bold"/>
                <a:sym typeface="Canva Sans Bold"/>
              </a:rPr>
              <a:t>Passwords</a:t>
            </a:r>
          </a:p>
          <a:p>
            <a:pPr marL="647695" lvl="1" indent="-323848" algn="just">
              <a:lnSpc>
                <a:spcPts val="4199"/>
              </a:lnSpc>
              <a:buFont typeface="Arial"/>
              <a:buChar char="•"/>
            </a:pPr>
            <a:r>
              <a:rPr lang="en-US" sz="2999" b="1">
                <a:solidFill>
                  <a:srgbClr val="182D88"/>
                </a:solidFill>
                <a:latin typeface="Canva Sans Bold"/>
                <a:ea typeface="Canva Sans Bold"/>
                <a:cs typeface="Canva Sans Bold"/>
                <a:sym typeface="Canva Sans Bold"/>
              </a:rPr>
              <a:t>Banking information</a:t>
            </a:r>
          </a:p>
          <a:p>
            <a:pPr marL="647695" lvl="1" indent="-323848" algn="just">
              <a:lnSpc>
                <a:spcPts val="4199"/>
              </a:lnSpc>
              <a:buFont typeface="Arial"/>
              <a:buChar char="•"/>
            </a:pPr>
            <a:r>
              <a:rPr lang="en-US" sz="2999" b="1">
                <a:solidFill>
                  <a:srgbClr val="182D88"/>
                </a:solidFill>
                <a:latin typeface="Canva Sans Bold"/>
                <a:ea typeface="Canva Sans Bold"/>
                <a:cs typeface="Canva Sans Bold"/>
                <a:sym typeface="Canva Sans Bold"/>
              </a:rPr>
              <a:t>Credit card numbers</a:t>
            </a:r>
          </a:p>
          <a:p>
            <a:pPr marL="647695" lvl="1" indent="-323848" algn="just">
              <a:lnSpc>
                <a:spcPts val="4199"/>
              </a:lnSpc>
              <a:buFont typeface="Arial"/>
              <a:buChar char="•"/>
            </a:pPr>
            <a:r>
              <a:rPr lang="en-US" sz="2999" b="1">
                <a:solidFill>
                  <a:srgbClr val="182D88"/>
                </a:solidFill>
                <a:latin typeface="Canva Sans Bold"/>
                <a:ea typeface="Canva Sans Bold"/>
                <a:cs typeface="Canva Sans Bold"/>
                <a:sym typeface="Canva Sans Bold"/>
              </a:rPr>
              <a:t>Personal data</a:t>
            </a:r>
          </a:p>
          <a:p>
            <a:pPr marL="647695" lvl="1" indent="-323848" algn="just">
              <a:lnSpc>
                <a:spcPts val="4199"/>
              </a:lnSpc>
              <a:buFont typeface="Arial"/>
              <a:buChar char="•"/>
            </a:pPr>
            <a:r>
              <a:rPr lang="en-US" sz="2999" b="1">
                <a:solidFill>
                  <a:srgbClr val="182D88"/>
                </a:solidFill>
                <a:latin typeface="Canva Sans Bold"/>
                <a:ea typeface="Canva Sans Bold"/>
                <a:cs typeface="Canva Sans Bold"/>
                <a:sym typeface="Canva Sans Bold"/>
              </a:rPr>
              <a:t>Login credentials</a:t>
            </a:r>
          </a:p>
          <a:p>
            <a:pPr algn="just">
              <a:lnSpc>
                <a:spcPts val="2940"/>
              </a:lnSpc>
            </a:pPr>
            <a:endParaRPr lang="en-US" sz="2999" b="1">
              <a:solidFill>
                <a:srgbClr val="182D88"/>
              </a:solidFill>
              <a:latin typeface="Canva Sans Bold"/>
              <a:ea typeface="Canva Sans Bold"/>
              <a:cs typeface="Canva Sans Bold"/>
              <a:sym typeface="Canva Sans Bold"/>
            </a:endParaRPr>
          </a:p>
          <a:p>
            <a:pPr marL="0" lvl="0" indent="0" algn="just">
              <a:lnSpc>
                <a:spcPts val="2940"/>
              </a:lnSpc>
              <a:spcBef>
                <a:spcPct val="0"/>
              </a:spcBef>
            </a:pPr>
            <a:endParaRPr lang="en-US" sz="2999" b="1">
              <a:solidFill>
                <a:srgbClr val="182D88"/>
              </a:solidFill>
              <a:latin typeface="Canva Sans Bold"/>
              <a:ea typeface="Canva Sans Bold"/>
              <a:cs typeface="Canva Sans Bold"/>
              <a:sym typeface="Canva Sans Bold"/>
            </a:endParaRPr>
          </a:p>
        </p:txBody>
      </p:sp>
      <p:sp>
        <p:nvSpPr>
          <p:cNvPr id="10" name="TextBox 10"/>
          <p:cNvSpPr txBox="1"/>
          <p:nvPr/>
        </p:nvSpPr>
        <p:spPr>
          <a:xfrm>
            <a:off x="307576" y="5947684"/>
            <a:ext cx="13345132" cy="2647950"/>
          </a:xfrm>
          <a:prstGeom prst="rect">
            <a:avLst/>
          </a:prstGeom>
        </p:spPr>
        <p:txBody>
          <a:bodyPr lIns="0" tIns="0" rIns="0" bIns="0" rtlCol="0" anchor="t">
            <a:spAutoFit/>
          </a:bodyPr>
          <a:lstStyle/>
          <a:p>
            <a:pPr algn="l">
              <a:lnSpc>
                <a:spcPts val="4200"/>
              </a:lnSpc>
            </a:pPr>
            <a:r>
              <a:rPr lang="en-US" sz="3000" b="1">
                <a:solidFill>
                  <a:srgbClr val="182D88"/>
                </a:solidFill>
                <a:latin typeface="Canva Sans Bold"/>
                <a:ea typeface="Canva Sans Bold"/>
                <a:cs typeface="Canva Sans Bold"/>
                <a:sym typeface="Canva Sans Bold"/>
              </a:rPr>
              <a:t>Phishing scams are commonly delivered through emails, text messages, phone calls, fake websites, and social media messages. These scams are dangerous because they can lead to identity theft, financial loss, data breaches, malware infections, and unauthorized access to personal or business accounts.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53959" y="1105977"/>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3" name="Freeform 3"/>
          <p:cNvSpPr/>
          <p:nvPr/>
        </p:nvSpPr>
        <p:spPr>
          <a:xfrm>
            <a:off x="-2122733" y="9258300"/>
            <a:ext cx="3457291" cy="3457291"/>
          </a:xfrm>
          <a:custGeom>
            <a:avLst/>
            <a:gdLst/>
            <a:ahLst/>
            <a:cxnLst/>
            <a:rect l="l" t="t" r="r" b="b"/>
            <a:pathLst>
              <a:path w="3457291" h="3457291">
                <a:moveTo>
                  <a:pt x="0" y="0"/>
                </a:moveTo>
                <a:lnTo>
                  <a:pt x="3457290" y="0"/>
                </a:lnTo>
                <a:lnTo>
                  <a:pt x="3457290" y="3457291"/>
                </a:lnTo>
                <a:lnTo>
                  <a:pt x="0" y="3457291"/>
                </a:lnTo>
                <a:lnTo>
                  <a:pt x="0" y="0"/>
                </a:lnTo>
                <a:close/>
              </a:path>
            </a:pathLst>
          </a:custGeom>
          <a:blipFill>
            <a:blip r:embed="rId3"/>
            <a:stretch>
              <a:fillRect/>
            </a:stretch>
          </a:blipFill>
        </p:spPr>
        <p:txBody>
          <a:bodyPr/>
          <a:lstStyle/>
          <a:p>
            <a:endParaRPr lang="en-US"/>
          </a:p>
        </p:txBody>
      </p:sp>
      <p:sp>
        <p:nvSpPr>
          <p:cNvPr id="4" name="Freeform 4"/>
          <p:cNvSpPr/>
          <p:nvPr/>
        </p:nvSpPr>
        <p:spPr>
          <a:xfrm>
            <a:off x="15255426" y="2459293"/>
            <a:ext cx="776370" cy="776370"/>
          </a:xfrm>
          <a:custGeom>
            <a:avLst/>
            <a:gdLst/>
            <a:ahLst/>
            <a:cxnLst/>
            <a:rect l="l" t="t" r="r" b="b"/>
            <a:pathLst>
              <a:path w="776370" h="776370">
                <a:moveTo>
                  <a:pt x="0" y="0"/>
                </a:moveTo>
                <a:lnTo>
                  <a:pt x="776369" y="0"/>
                </a:lnTo>
                <a:lnTo>
                  <a:pt x="776369" y="776370"/>
                </a:lnTo>
                <a:lnTo>
                  <a:pt x="0" y="7763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7053959" y="9048133"/>
            <a:ext cx="3070508" cy="3070508"/>
          </a:xfrm>
          <a:custGeom>
            <a:avLst/>
            <a:gdLst/>
            <a:ahLst/>
            <a:cxnLst/>
            <a:rect l="l" t="t" r="r" b="b"/>
            <a:pathLst>
              <a:path w="3070508" h="3070508">
                <a:moveTo>
                  <a:pt x="0" y="0"/>
                </a:moveTo>
                <a:lnTo>
                  <a:pt x="3070508" y="0"/>
                </a:lnTo>
                <a:lnTo>
                  <a:pt x="3070508" y="3070508"/>
                </a:lnTo>
                <a:lnTo>
                  <a:pt x="0" y="30705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TextBox 9"/>
          <p:cNvSpPr txBox="1"/>
          <p:nvPr/>
        </p:nvSpPr>
        <p:spPr>
          <a:xfrm>
            <a:off x="1028700" y="912408"/>
            <a:ext cx="13026266" cy="1142872"/>
          </a:xfrm>
          <a:prstGeom prst="rect">
            <a:avLst/>
          </a:prstGeom>
        </p:spPr>
        <p:txBody>
          <a:bodyPr lIns="0" tIns="0" rIns="0" bIns="0" rtlCol="0" anchor="t">
            <a:spAutoFit/>
          </a:bodyPr>
          <a:lstStyle/>
          <a:p>
            <a:pPr algn="l">
              <a:lnSpc>
                <a:spcPts val="8535"/>
              </a:lnSpc>
            </a:pPr>
            <a:r>
              <a:rPr lang="en-US" sz="8799" spc="-87">
                <a:solidFill>
                  <a:srgbClr val="2657C1"/>
                </a:solidFill>
                <a:latin typeface="Etna Sans Serif"/>
                <a:ea typeface="Etna Sans Serif"/>
                <a:cs typeface="Etna Sans Serif"/>
                <a:sym typeface="Etna Sans Serif"/>
              </a:rPr>
              <a:t>Types of Phishing Attacks</a:t>
            </a:r>
          </a:p>
        </p:txBody>
      </p:sp>
      <p:sp>
        <p:nvSpPr>
          <p:cNvPr id="10" name="Freeform 10"/>
          <p:cNvSpPr/>
          <p:nvPr/>
        </p:nvSpPr>
        <p:spPr>
          <a:xfrm>
            <a:off x="1028700" y="3138522"/>
            <a:ext cx="611715" cy="618462"/>
          </a:xfrm>
          <a:custGeom>
            <a:avLst/>
            <a:gdLst/>
            <a:ahLst/>
            <a:cxnLst/>
            <a:rect l="l" t="t" r="r" b="b"/>
            <a:pathLst>
              <a:path w="611715" h="618462">
                <a:moveTo>
                  <a:pt x="0" y="0"/>
                </a:moveTo>
                <a:lnTo>
                  <a:pt x="611715" y="0"/>
                </a:lnTo>
                <a:lnTo>
                  <a:pt x="611715" y="618462"/>
                </a:lnTo>
                <a:lnTo>
                  <a:pt x="0" y="618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880918" y="3168988"/>
            <a:ext cx="3797061" cy="563881"/>
          </a:xfrm>
          <a:prstGeom prst="rect">
            <a:avLst/>
          </a:prstGeom>
        </p:spPr>
        <p:txBody>
          <a:bodyPr lIns="0" tIns="0" rIns="0" bIns="0" rtlCol="0" anchor="t">
            <a:spAutoFit/>
          </a:bodyPr>
          <a:lstStyle/>
          <a:p>
            <a:pPr marL="0" lvl="0" indent="0" algn="l">
              <a:lnSpc>
                <a:spcPts val="4619"/>
              </a:lnSpc>
              <a:spcBef>
                <a:spcPct val="0"/>
              </a:spcBef>
            </a:pPr>
            <a:r>
              <a:rPr lang="en-US" sz="3299" b="1">
                <a:solidFill>
                  <a:srgbClr val="5284FF"/>
                </a:solidFill>
                <a:latin typeface="TT Fors Bold"/>
                <a:ea typeface="TT Fors Bold"/>
                <a:cs typeface="TT Fors Bold"/>
                <a:sym typeface="TT Fors Bold"/>
              </a:rPr>
              <a:t>Email Phishing</a:t>
            </a:r>
          </a:p>
        </p:txBody>
      </p:sp>
      <p:sp>
        <p:nvSpPr>
          <p:cNvPr id="12" name="Freeform 12"/>
          <p:cNvSpPr/>
          <p:nvPr/>
        </p:nvSpPr>
        <p:spPr>
          <a:xfrm>
            <a:off x="1028700" y="6555229"/>
            <a:ext cx="611715" cy="618462"/>
          </a:xfrm>
          <a:custGeom>
            <a:avLst/>
            <a:gdLst/>
            <a:ahLst/>
            <a:cxnLst/>
            <a:rect l="l" t="t" r="r" b="b"/>
            <a:pathLst>
              <a:path w="611715" h="618462">
                <a:moveTo>
                  <a:pt x="0" y="0"/>
                </a:moveTo>
                <a:lnTo>
                  <a:pt x="611715" y="0"/>
                </a:lnTo>
                <a:lnTo>
                  <a:pt x="611715" y="618461"/>
                </a:lnTo>
                <a:lnTo>
                  <a:pt x="0" y="61846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1880918" y="6585694"/>
            <a:ext cx="2241641"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Smishing</a:t>
            </a:r>
          </a:p>
        </p:txBody>
      </p:sp>
      <p:sp>
        <p:nvSpPr>
          <p:cNvPr id="14" name="TextBox 14"/>
          <p:cNvSpPr txBox="1"/>
          <p:nvPr/>
        </p:nvSpPr>
        <p:spPr>
          <a:xfrm>
            <a:off x="1028700" y="7355629"/>
            <a:ext cx="7887779" cy="2141220"/>
          </a:xfrm>
          <a:prstGeom prst="rect">
            <a:avLst/>
          </a:prstGeom>
        </p:spPr>
        <p:txBody>
          <a:bodyPr lIns="0" tIns="0" rIns="0" bIns="0" rtlCol="0" anchor="t">
            <a:spAutoFit/>
          </a:bodyPr>
          <a:lstStyle/>
          <a:p>
            <a:pPr algn="just">
              <a:lnSpc>
                <a:spcPts val="3569"/>
              </a:lnSpc>
            </a:pPr>
            <a:r>
              <a:rPr lang="en-US" sz="2550">
                <a:solidFill>
                  <a:srgbClr val="000000"/>
                </a:solidFill>
                <a:latin typeface="Comic Sans"/>
                <a:ea typeface="Comic Sans"/>
                <a:cs typeface="Comic Sans"/>
                <a:sym typeface="Comic Sans"/>
              </a:rPr>
              <a:t>Phishing attacks through SMS/text messages.</a:t>
            </a:r>
          </a:p>
          <a:p>
            <a:pPr algn="just">
              <a:lnSpc>
                <a:spcPts val="3569"/>
              </a:lnSpc>
            </a:pPr>
            <a:r>
              <a:rPr lang="en-US" sz="2550">
                <a:solidFill>
                  <a:srgbClr val="000000"/>
                </a:solidFill>
                <a:latin typeface="Comic Sans"/>
                <a:ea typeface="Comic Sans"/>
                <a:cs typeface="Comic Sans"/>
                <a:sym typeface="Comic Sans"/>
              </a:rPr>
              <a:t>Example:</a:t>
            </a:r>
          </a:p>
          <a:p>
            <a:pPr algn="just">
              <a:lnSpc>
                <a:spcPts val="3569"/>
              </a:lnSpc>
            </a:pPr>
            <a:r>
              <a:rPr lang="en-US" sz="2550">
                <a:solidFill>
                  <a:srgbClr val="000000"/>
                </a:solidFill>
                <a:latin typeface="Comic Sans"/>
                <a:ea typeface="Comic Sans"/>
                <a:cs typeface="Comic Sans"/>
                <a:sym typeface="Comic Sans"/>
              </a:rPr>
              <a:t> “Your bank account has been locked. Click here immediately.”</a:t>
            </a:r>
          </a:p>
          <a:p>
            <a:pPr marL="0" lvl="0" indent="0" algn="just">
              <a:lnSpc>
                <a:spcPts val="2940"/>
              </a:lnSpc>
              <a:spcBef>
                <a:spcPct val="0"/>
              </a:spcBef>
            </a:pPr>
            <a:endParaRPr lang="en-US" sz="2550">
              <a:solidFill>
                <a:srgbClr val="000000"/>
              </a:solidFill>
              <a:latin typeface="Comic Sans"/>
              <a:ea typeface="Comic Sans"/>
              <a:cs typeface="Comic Sans"/>
              <a:sym typeface="Comic Sans"/>
            </a:endParaRPr>
          </a:p>
        </p:txBody>
      </p:sp>
      <p:sp>
        <p:nvSpPr>
          <p:cNvPr id="15" name="Freeform 15"/>
          <p:cNvSpPr/>
          <p:nvPr/>
        </p:nvSpPr>
        <p:spPr>
          <a:xfrm>
            <a:off x="9459404" y="3138522"/>
            <a:ext cx="611715" cy="618462"/>
          </a:xfrm>
          <a:custGeom>
            <a:avLst/>
            <a:gdLst/>
            <a:ahLst/>
            <a:cxnLst/>
            <a:rect l="l" t="t" r="r" b="b"/>
            <a:pathLst>
              <a:path w="611715" h="618462">
                <a:moveTo>
                  <a:pt x="0" y="0"/>
                </a:moveTo>
                <a:lnTo>
                  <a:pt x="611715" y="0"/>
                </a:lnTo>
                <a:lnTo>
                  <a:pt x="611715" y="618462"/>
                </a:lnTo>
                <a:lnTo>
                  <a:pt x="0" y="618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TextBox 16"/>
          <p:cNvSpPr txBox="1"/>
          <p:nvPr/>
        </p:nvSpPr>
        <p:spPr>
          <a:xfrm>
            <a:off x="10311622" y="3168988"/>
            <a:ext cx="3502701"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Spear Phishing</a:t>
            </a:r>
          </a:p>
        </p:txBody>
      </p:sp>
      <p:sp>
        <p:nvSpPr>
          <p:cNvPr id="17" name="Freeform 17"/>
          <p:cNvSpPr/>
          <p:nvPr/>
        </p:nvSpPr>
        <p:spPr>
          <a:xfrm>
            <a:off x="9459404" y="6555229"/>
            <a:ext cx="611715" cy="618462"/>
          </a:xfrm>
          <a:custGeom>
            <a:avLst/>
            <a:gdLst/>
            <a:ahLst/>
            <a:cxnLst/>
            <a:rect l="l" t="t" r="r" b="b"/>
            <a:pathLst>
              <a:path w="611715" h="618462">
                <a:moveTo>
                  <a:pt x="0" y="0"/>
                </a:moveTo>
                <a:lnTo>
                  <a:pt x="611715" y="0"/>
                </a:lnTo>
                <a:lnTo>
                  <a:pt x="611715" y="618461"/>
                </a:lnTo>
                <a:lnTo>
                  <a:pt x="0" y="61846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8"/>
          <p:cNvSpPr txBox="1"/>
          <p:nvPr/>
        </p:nvSpPr>
        <p:spPr>
          <a:xfrm>
            <a:off x="10311622" y="6585694"/>
            <a:ext cx="4552856"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Vishing</a:t>
            </a:r>
          </a:p>
        </p:txBody>
      </p:sp>
      <p:sp>
        <p:nvSpPr>
          <p:cNvPr id="19" name="TextBox 19"/>
          <p:cNvSpPr txBox="1"/>
          <p:nvPr/>
        </p:nvSpPr>
        <p:spPr>
          <a:xfrm>
            <a:off x="9459404" y="7355629"/>
            <a:ext cx="7887779" cy="2211705"/>
          </a:xfrm>
          <a:prstGeom prst="rect">
            <a:avLst/>
          </a:prstGeom>
        </p:spPr>
        <p:txBody>
          <a:bodyPr lIns="0" tIns="0" rIns="0" bIns="0" rtlCol="0" anchor="t">
            <a:spAutoFit/>
          </a:bodyPr>
          <a:lstStyle/>
          <a:p>
            <a:pPr algn="just">
              <a:lnSpc>
                <a:spcPts val="3569"/>
              </a:lnSpc>
            </a:pPr>
            <a:r>
              <a:rPr lang="en-US" sz="2550">
                <a:solidFill>
                  <a:srgbClr val="000000"/>
                </a:solidFill>
                <a:latin typeface="Comic Sans"/>
                <a:ea typeface="Comic Sans"/>
                <a:cs typeface="Comic Sans"/>
                <a:sym typeface="Comic Sans"/>
              </a:rPr>
              <a:t>Voice phishing conducted through phone calls.</a:t>
            </a:r>
          </a:p>
          <a:p>
            <a:pPr algn="just">
              <a:lnSpc>
                <a:spcPts val="3569"/>
              </a:lnSpc>
            </a:pPr>
            <a:r>
              <a:rPr lang="en-US" sz="2550">
                <a:solidFill>
                  <a:srgbClr val="000000"/>
                </a:solidFill>
                <a:latin typeface="Comic Sans"/>
                <a:ea typeface="Comic Sans"/>
                <a:cs typeface="Comic Sans"/>
                <a:sym typeface="Comic Sans"/>
              </a:rPr>
              <a:t>Attackers may impersonate:</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Banks</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Government agencies</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Technical support</a:t>
            </a:r>
          </a:p>
        </p:txBody>
      </p:sp>
      <p:sp>
        <p:nvSpPr>
          <p:cNvPr id="20" name="TextBox 20"/>
          <p:cNvSpPr txBox="1"/>
          <p:nvPr/>
        </p:nvSpPr>
        <p:spPr>
          <a:xfrm>
            <a:off x="1028700" y="3876281"/>
            <a:ext cx="6776815" cy="2615531"/>
          </a:xfrm>
          <a:prstGeom prst="rect">
            <a:avLst/>
          </a:prstGeom>
        </p:spPr>
        <p:txBody>
          <a:bodyPr lIns="0" tIns="0" rIns="0" bIns="0" rtlCol="0" anchor="t">
            <a:spAutoFit/>
          </a:bodyPr>
          <a:lstStyle/>
          <a:p>
            <a:pPr algn="l">
              <a:lnSpc>
                <a:spcPts val="3571"/>
              </a:lnSpc>
            </a:pPr>
            <a:r>
              <a:rPr lang="en-US" sz="2551">
                <a:solidFill>
                  <a:srgbClr val="000000"/>
                </a:solidFill>
                <a:latin typeface="Comic Sans"/>
                <a:ea typeface="Comic Sans"/>
                <a:cs typeface="Comic Sans"/>
                <a:sym typeface="Comic Sans"/>
              </a:rPr>
              <a:t>Mass emails pretending to be from trusted companies.</a:t>
            </a:r>
          </a:p>
          <a:p>
            <a:pPr algn="l">
              <a:lnSpc>
                <a:spcPts val="3571"/>
              </a:lnSpc>
            </a:pPr>
            <a:r>
              <a:rPr lang="en-US" sz="2551">
                <a:solidFill>
                  <a:srgbClr val="000000"/>
                </a:solidFill>
                <a:latin typeface="Comic Sans"/>
                <a:ea typeface="Comic Sans"/>
                <a:cs typeface="Comic Sans"/>
                <a:sym typeface="Comic Sans"/>
              </a:rPr>
              <a:t>Example:</a:t>
            </a:r>
          </a:p>
          <a:p>
            <a:pPr marL="550835" lvl="1" indent="-275417" algn="l">
              <a:lnSpc>
                <a:spcPts val="3571"/>
              </a:lnSpc>
              <a:buAutoNum type="arabicPeriod"/>
            </a:pPr>
            <a:r>
              <a:rPr lang="en-US" sz="2551">
                <a:solidFill>
                  <a:srgbClr val="000000"/>
                </a:solidFill>
                <a:latin typeface="Comic Sans"/>
                <a:ea typeface="Comic Sans"/>
                <a:cs typeface="Comic Sans"/>
                <a:sym typeface="Comic Sans"/>
              </a:rPr>
              <a:t> Fake Amazon order confirmation</a:t>
            </a:r>
          </a:p>
          <a:p>
            <a:pPr marL="550835" lvl="1" indent="-275417" algn="l">
              <a:lnSpc>
                <a:spcPts val="3571"/>
              </a:lnSpc>
              <a:buAutoNum type="arabicPeriod"/>
            </a:pPr>
            <a:r>
              <a:rPr lang="en-US" sz="2551">
                <a:solidFill>
                  <a:srgbClr val="000000"/>
                </a:solidFill>
                <a:latin typeface="Comic Sans"/>
                <a:ea typeface="Comic Sans"/>
                <a:cs typeface="Comic Sans"/>
                <a:sym typeface="Comic Sans"/>
              </a:rPr>
              <a:t> Fake PayPal security alert</a:t>
            </a:r>
          </a:p>
          <a:p>
            <a:pPr algn="l">
              <a:lnSpc>
                <a:spcPts val="3151"/>
              </a:lnSpc>
              <a:spcBef>
                <a:spcPct val="0"/>
              </a:spcBef>
            </a:pPr>
            <a:endParaRPr lang="en-US" sz="2551">
              <a:solidFill>
                <a:srgbClr val="000000"/>
              </a:solidFill>
              <a:latin typeface="Comic Sans"/>
              <a:ea typeface="Comic Sans"/>
              <a:cs typeface="Comic Sans"/>
              <a:sym typeface="Comic Sans"/>
            </a:endParaRPr>
          </a:p>
        </p:txBody>
      </p:sp>
      <p:sp>
        <p:nvSpPr>
          <p:cNvPr id="21" name="TextBox 21"/>
          <p:cNvSpPr txBox="1"/>
          <p:nvPr/>
        </p:nvSpPr>
        <p:spPr>
          <a:xfrm>
            <a:off x="9085808" y="3854356"/>
            <a:ext cx="9124752" cy="2659380"/>
          </a:xfrm>
          <a:prstGeom prst="rect">
            <a:avLst/>
          </a:prstGeom>
        </p:spPr>
        <p:txBody>
          <a:bodyPr lIns="0" tIns="0" rIns="0" bIns="0" rtlCol="0" anchor="t">
            <a:spAutoFit/>
          </a:bodyPr>
          <a:lstStyle/>
          <a:p>
            <a:pPr algn="l">
              <a:lnSpc>
                <a:spcPts val="3569"/>
              </a:lnSpc>
            </a:pPr>
            <a:r>
              <a:rPr lang="en-US" sz="2550">
                <a:solidFill>
                  <a:srgbClr val="000000"/>
                </a:solidFill>
                <a:latin typeface="Comic Sans"/>
                <a:ea typeface="Comic Sans"/>
                <a:cs typeface="Comic Sans"/>
                <a:sym typeface="Comic Sans"/>
              </a:rPr>
              <a:t>Targeted attacks aimed at a specific person or organization.</a:t>
            </a:r>
          </a:p>
          <a:p>
            <a:pPr algn="l">
              <a:lnSpc>
                <a:spcPts val="3569"/>
              </a:lnSpc>
            </a:pPr>
            <a:r>
              <a:rPr lang="en-US" sz="2550">
                <a:solidFill>
                  <a:srgbClr val="000000"/>
                </a:solidFill>
                <a:latin typeface="Comic Sans"/>
                <a:ea typeface="Comic Sans"/>
                <a:cs typeface="Comic Sans"/>
                <a:sym typeface="Comic Sans"/>
              </a:rPr>
              <a:t>Characteristics:</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Personalized messages</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Uses victim information</a:t>
            </a:r>
          </a:p>
          <a:p>
            <a:pPr marL="550545" lvl="1" indent="-275272" algn="l">
              <a:lnSpc>
                <a:spcPts val="3569"/>
              </a:lnSpc>
              <a:buAutoNum type="arabicPeriod"/>
            </a:pPr>
            <a:r>
              <a:rPr lang="en-US" sz="2550">
                <a:solidFill>
                  <a:srgbClr val="000000"/>
                </a:solidFill>
                <a:latin typeface="Comic Sans"/>
                <a:ea typeface="Comic Sans"/>
                <a:cs typeface="Comic Sans"/>
                <a:sym typeface="Comic Sans"/>
              </a:rPr>
              <a:t> More difficult to detect</a:t>
            </a:r>
          </a:p>
          <a:p>
            <a:pPr algn="l">
              <a:lnSpc>
                <a:spcPts val="3569"/>
              </a:lnSpc>
              <a:spcBef>
                <a:spcPct val="0"/>
              </a:spcBef>
            </a:pPr>
            <a:endParaRPr lang="en-US" sz="2550">
              <a:solidFill>
                <a:srgbClr val="000000"/>
              </a:solidFill>
              <a:latin typeface="Comic Sans"/>
              <a:ea typeface="Comic Sans"/>
              <a:cs typeface="Comic Sans"/>
              <a:sym typeface="Com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569722" y="1476128"/>
            <a:ext cx="1874878" cy="1874878"/>
          </a:xfrm>
          <a:custGeom>
            <a:avLst/>
            <a:gdLst/>
            <a:ahLst/>
            <a:cxnLst/>
            <a:rect l="l" t="t" r="r" b="b"/>
            <a:pathLst>
              <a:path w="1874878" h="1874878">
                <a:moveTo>
                  <a:pt x="0" y="0"/>
                </a:moveTo>
                <a:lnTo>
                  <a:pt x="1874879" y="0"/>
                </a:lnTo>
                <a:lnTo>
                  <a:pt x="1874879" y="1874878"/>
                </a:lnTo>
                <a:lnTo>
                  <a:pt x="0" y="1874878"/>
                </a:lnTo>
                <a:lnTo>
                  <a:pt x="0" y="0"/>
                </a:lnTo>
                <a:close/>
              </a:path>
            </a:pathLst>
          </a:custGeom>
          <a:blipFill>
            <a:blip r:embed="rId3"/>
            <a:stretch>
              <a:fillRect/>
            </a:stretch>
          </a:blipFill>
        </p:spPr>
        <p:txBody>
          <a:bodyPr/>
          <a:lstStyle/>
          <a:p>
            <a:endParaRPr lang="en-US"/>
          </a:p>
        </p:txBody>
      </p:sp>
      <p:sp>
        <p:nvSpPr>
          <p:cNvPr id="3" name="Freeform 3"/>
          <p:cNvSpPr/>
          <p:nvPr/>
        </p:nvSpPr>
        <p:spPr>
          <a:xfrm>
            <a:off x="-2660529" y="8870115"/>
            <a:ext cx="4841475" cy="4841475"/>
          </a:xfrm>
          <a:custGeom>
            <a:avLst/>
            <a:gdLst/>
            <a:ahLst/>
            <a:cxnLst/>
            <a:rect l="l" t="t" r="r" b="b"/>
            <a:pathLst>
              <a:path w="4841475" h="4841475">
                <a:moveTo>
                  <a:pt x="0" y="0"/>
                </a:moveTo>
                <a:lnTo>
                  <a:pt x="4841476" y="0"/>
                </a:lnTo>
                <a:lnTo>
                  <a:pt x="4841476" y="4841475"/>
                </a:lnTo>
                <a:lnTo>
                  <a:pt x="0" y="4841475"/>
                </a:lnTo>
                <a:lnTo>
                  <a:pt x="0" y="0"/>
                </a:lnTo>
                <a:close/>
              </a:path>
            </a:pathLst>
          </a:custGeom>
          <a:blipFill>
            <a:blip r:embed="rId3"/>
            <a:stretch>
              <a:fillRect/>
            </a:stretch>
          </a:blipFill>
        </p:spPr>
        <p:txBody>
          <a:bodyPr/>
          <a:lstStyle/>
          <a:p>
            <a:endParaRPr lang="en-US"/>
          </a:p>
        </p:txBody>
      </p:sp>
      <p:sp>
        <p:nvSpPr>
          <p:cNvPr id="4" name="Freeform 4"/>
          <p:cNvSpPr/>
          <p:nvPr/>
        </p:nvSpPr>
        <p:spPr>
          <a:xfrm>
            <a:off x="6168312" y="2244543"/>
            <a:ext cx="776370" cy="776370"/>
          </a:xfrm>
          <a:custGeom>
            <a:avLst/>
            <a:gdLst/>
            <a:ahLst/>
            <a:cxnLst/>
            <a:rect l="l" t="t" r="r" b="b"/>
            <a:pathLst>
              <a:path w="776370" h="776370">
                <a:moveTo>
                  <a:pt x="0" y="0"/>
                </a:moveTo>
                <a:lnTo>
                  <a:pt x="776370" y="0"/>
                </a:lnTo>
                <a:lnTo>
                  <a:pt x="776370" y="776370"/>
                </a:lnTo>
                <a:lnTo>
                  <a:pt x="0" y="7763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6053186" y="8429388"/>
            <a:ext cx="4185238" cy="4185238"/>
          </a:xfrm>
          <a:custGeom>
            <a:avLst/>
            <a:gdLst/>
            <a:ahLst/>
            <a:cxnLst/>
            <a:rect l="l" t="t" r="r" b="b"/>
            <a:pathLst>
              <a:path w="4185238" h="4185238">
                <a:moveTo>
                  <a:pt x="0" y="0"/>
                </a:moveTo>
                <a:lnTo>
                  <a:pt x="4185237" y="0"/>
                </a:lnTo>
                <a:lnTo>
                  <a:pt x="4185237" y="4185238"/>
                </a:lnTo>
                <a:lnTo>
                  <a:pt x="0" y="41852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Freeform 9"/>
          <p:cNvSpPr/>
          <p:nvPr/>
        </p:nvSpPr>
        <p:spPr>
          <a:xfrm>
            <a:off x="1738020" y="1487898"/>
            <a:ext cx="5206662" cy="8158587"/>
          </a:xfrm>
          <a:custGeom>
            <a:avLst/>
            <a:gdLst/>
            <a:ahLst/>
            <a:cxnLst/>
            <a:rect l="l" t="t" r="r" b="b"/>
            <a:pathLst>
              <a:path w="5206662" h="8158587">
                <a:moveTo>
                  <a:pt x="0" y="0"/>
                </a:moveTo>
                <a:lnTo>
                  <a:pt x="5206662" y="0"/>
                </a:lnTo>
                <a:lnTo>
                  <a:pt x="5206662" y="8158587"/>
                </a:lnTo>
                <a:lnTo>
                  <a:pt x="0" y="81585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8068632" y="6206850"/>
            <a:ext cx="758476" cy="678491"/>
          </a:xfrm>
          <a:custGeom>
            <a:avLst/>
            <a:gdLst/>
            <a:ahLst/>
            <a:cxnLst/>
            <a:rect l="l" t="t" r="r" b="b"/>
            <a:pathLst>
              <a:path w="758476" h="678491">
                <a:moveTo>
                  <a:pt x="0" y="0"/>
                </a:moveTo>
                <a:lnTo>
                  <a:pt x="758476" y="0"/>
                </a:lnTo>
                <a:lnTo>
                  <a:pt x="758476" y="678491"/>
                </a:lnTo>
                <a:lnTo>
                  <a:pt x="0" y="6784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7753701" y="3111485"/>
            <a:ext cx="9816022" cy="2455707"/>
          </a:xfrm>
          <a:prstGeom prst="rect">
            <a:avLst/>
          </a:prstGeom>
        </p:spPr>
        <p:txBody>
          <a:bodyPr lIns="0" tIns="0" rIns="0" bIns="0" rtlCol="0" anchor="t">
            <a:spAutoFit/>
          </a:bodyPr>
          <a:lstStyle/>
          <a:p>
            <a:pPr algn="ctr">
              <a:lnSpc>
                <a:spcPts val="9431"/>
              </a:lnSpc>
            </a:pPr>
            <a:r>
              <a:rPr lang="en-US" sz="9722" spc="-97">
                <a:solidFill>
                  <a:srgbClr val="2657C1"/>
                </a:solidFill>
                <a:latin typeface="Etna Sans Serif"/>
                <a:ea typeface="Etna Sans Serif"/>
                <a:cs typeface="Etna Sans Serif"/>
                <a:sym typeface="Etna Sans Serif"/>
              </a:rPr>
              <a:t>Social Engineering Techniques</a:t>
            </a:r>
          </a:p>
        </p:txBody>
      </p:sp>
      <p:sp>
        <p:nvSpPr>
          <p:cNvPr id="12" name="TextBox 12"/>
          <p:cNvSpPr txBox="1"/>
          <p:nvPr/>
        </p:nvSpPr>
        <p:spPr>
          <a:xfrm>
            <a:off x="9016099" y="6276855"/>
            <a:ext cx="8115300" cy="4813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E29417"/>
                </a:solidFill>
                <a:latin typeface="Comic Sans Bold"/>
                <a:ea typeface="Comic Sans Bold"/>
                <a:cs typeface="Comic Sans Bold"/>
                <a:sym typeface="Comic Sans Bold"/>
              </a:rPr>
              <a:t>What is Social Engineering?</a:t>
            </a:r>
          </a:p>
        </p:txBody>
      </p:sp>
      <p:sp>
        <p:nvSpPr>
          <p:cNvPr id="13" name="TextBox 13"/>
          <p:cNvSpPr txBox="1"/>
          <p:nvPr/>
        </p:nvSpPr>
        <p:spPr>
          <a:xfrm>
            <a:off x="9016099" y="7324547"/>
            <a:ext cx="8115300" cy="1471930"/>
          </a:xfrm>
          <a:prstGeom prst="rect">
            <a:avLst/>
          </a:prstGeom>
        </p:spPr>
        <p:txBody>
          <a:bodyPr lIns="0" tIns="0" rIns="0" bIns="0" rtlCol="0" anchor="t">
            <a:spAutoFit/>
          </a:bodyPr>
          <a:lstStyle/>
          <a:p>
            <a:pPr marL="0" lvl="0" indent="0" algn="l">
              <a:lnSpc>
                <a:spcPts val="3919"/>
              </a:lnSpc>
              <a:spcBef>
                <a:spcPct val="0"/>
              </a:spcBef>
            </a:pPr>
            <a:r>
              <a:rPr lang="en-US" sz="2799" b="1">
                <a:solidFill>
                  <a:srgbClr val="D75640"/>
                </a:solidFill>
                <a:latin typeface="Comic Sans Bold"/>
                <a:ea typeface="Comic Sans Bold"/>
                <a:cs typeface="Comic Sans Bold"/>
                <a:sym typeface="Comic Sans Bold"/>
              </a:rPr>
              <a:t>Social engineering is psychological manipulation used to influence people into making security mistakes.</a:t>
            </a:r>
          </a:p>
        </p:txBody>
      </p:sp>
      <p:sp>
        <p:nvSpPr>
          <p:cNvPr id="14" name="Freeform 14"/>
          <p:cNvSpPr/>
          <p:nvPr/>
        </p:nvSpPr>
        <p:spPr>
          <a:xfrm>
            <a:off x="8068632" y="7381697"/>
            <a:ext cx="758476" cy="678491"/>
          </a:xfrm>
          <a:custGeom>
            <a:avLst/>
            <a:gdLst/>
            <a:ahLst/>
            <a:cxnLst/>
            <a:rect l="l" t="t" r="r" b="b"/>
            <a:pathLst>
              <a:path w="758476" h="678491">
                <a:moveTo>
                  <a:pt x="0" y="0"/>
                </a:moveTo>
                <a:lnTo>
                  <a:pt x="758476" y="0"/>
                </a:lnTo>
                <a:lnTo>
                  <a:pt x="758476" y="678491"/>
                </a:lnTo>
                <a:lnTo>
                  <a:pt x="0" y="67849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432612" y="107363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3" name="Freeform 3"/>
          <p:cNvSpPr/>
          <p:nvPr/>
        </p:nvSpPr>
        <p:spPr>
          <a:xfrm>
            <a:off x="-761477" y="9258300"/>
            <a:ext cx="2587045" cy="2587045"/>
          </a:xfrm>
          <a:custGeom>
            <a:avLst/>
            <a:gdLst/>
            <a:ahLst/>
            <a:cxnLst/>
            <a:rect l="l" t="t" r="r" b="b"/>
            <a:pathLst>
              <a:path w="2587045" h="2587045">
                <a:moveTo>
                  <a:pt x="0" y="0"/>
                </a:moveTo>
                <a:lnTo>
                  <a:pt x="2587045" y="0"/>
                </a:lnTo>
                <a:lnTo>
                  <a:pt x="2587045" y="2587045"/>
                </a:lnTo>
                <a:lnTo>
                  <a:pt x="0" y="2587045"/>
                </a:lnTo>
                <a:lnTo>
                  <a:pt x="0" y="0"/>
                </a:lnTo>
                <a:close/>
              </a:path>
            </a:pathLst>
          </a:custGeom>
          <a:blipFill>
            <a:blip r:embed="rId3"/>
            <a:stretch>
              <a:fillRect/>
            </a:stretch>
          </a:blipFill>
        </p:spPr>
        <p:txBody>
          <a:bodyPr/>
          <a:lstStyle/>
          <a:p>
            <a:endParaRPr lang="en-US"/>
          </a:p>
        </p:txBody>
      </p:sp>
      <p:grpSp>
        <p:nvGrpSpPr>
          <p:cNvPr id="4" name="Group 4"/>
          <p:cNvGrpSpPr/>
          <p:nvPr/>
        </p:nvGrpSpPr>
        <p:grpSpPr>
          <a:xfrm>
            <a:off x="0" y="0"/>
            <a:ext cx="18288000" cy="213007"/>
            <a:chOff x="0" y="0"/>
            <a:chExt cx="4816593" cy="56101"/>
          </a:xfrm>
        </p:grpSpPr>
        <p:sp>
          <p:nvSpPr>
            <p:cNvPr id="5" name="Freeform 5"/>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6" name="TextBox 6"/>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7" name="Freeform 7"/>
          <p:cNvSpPr/>
          <p:nvPr/>
        </p:nvSpPr>
        <p:spPr>
          <a:xfrm>
            <a:off x="-7415774" y="1810867"/>
            <a:ext cx="16140674" cy="7330556"/>
          </a:xfrm>
          <a:custGeom>
            <a:avLst/>
            <a:gdLst/>
            <a:ahLst/>
            <a:cxnLst/>
            <a:rect l="l" t="t" r="r" b="b"/>
            <a:pathLst>
              <a:path w="16140674" h="7330556">
                <a:moveTo>
                  <a:pt x="0" y="0"/>
                </a:moveTo>
                <a:lnTo>
                  <a:pt x="16140674" y="0"/>
                </a:lnTo>
                <a:lnTo>
                  <a:pt x="16140674" y="7330557"/>
                </a:lnTo>
                <a:lnTo>
                  <a:pt x="0" y="7330557"/>
                </a:lnTo>
                <a:lnTo>
                  <a:pt x="0" y="0"/>
                </a:lnTo>
                <a:close/>
              </a:path>
            </a:pathLst>
          </a:custGeom>
          <a:blipFill>
            <a:blip r:embed="rId4"/>
            <a:stretch>
              <a:fillRect/>
            </a:stretch>
          </a:blipFill>
        </p:spPr>
        <p:txBody>
          <a:bodyPr/>
          <a:lstStyle/>
          <a:p>
            <a:endParaRPr lang="en-US"/>
          </a:p>
        </p:txBody>
      </p:sp>
      <p:sp>
        <p:nvSpPr>
          <p:cNvPr id="8" name="Freeform 8"/>
          <p:cNvSpPr/>
          <p:nvPr/>
        </p:nvSpPr>
        <p:spPr>
          <a:xfrm>
            <a:off x="15494416" y="3484695"/>
            <a:ext cx="2256601" cy="1991451"/>
          </a:xfrm>
          <a:custGeom>
            <a:avLst/>
            <a:gdLst/>
            <a:ahLst/>
            <a:cxnLst/>
            <a:rect l="l" t="t" r="r" b="b"/>
            <a:pathLst>
              <a:path w="2256601" h="1991451">
                <a:moveTo>
                  <a:pt x="0" y="0"/>
                </a:moveTo>
                <a:lnTo>
                  <a:pt x="2256601" y="0"/>
                </a:lnTo>
                <a:lnTo>
                  <a:pt x="2256601" y="1991450"/>
                </a:lnTo>
                <a:lnTo>
                  <a:pt x="0" y="1991450"/>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2307890" y="1001765"/>
            <a:ext cx="16935453" cy="2385071"/>
          </a:xfrm>
          <a:prstGeom prst="rect">
            <a:avLst/>
          </a:prstGeom>
        </p:spPr>
        <p:txBody>
          <a:bodyPr lIns="0" tIns="0" rIns="0" bIns="0" rtlCol="0" anchor="t">
            <a:spAutoFit/>
          </a:bodyPr>
          <a:lstStyle/>
          <a:p>
            <a:pPr algn="l">
              <a:lnSpc>
                <a:spcPts val="6595"/>
              </a:lnSpc>
            </a:pPr>
            <a:r>
              <a:rPr lang="en-US" sz="6799" spc="-67">
                <a:solidFill>
                  <a:srgbClr val="2657C1"/>
                </a:solidFill>
                <a:latin typeface="Etna Sans Serif"/>
                <a:ea typeface="Etna Sans Serif"/>
                <a:cs typeface="Etna Sans Serif"/>
                <a:sym typeface="Etna Sans Serif"/>
              </a:rPr>
              <a:t>Common Tactics Used by Attackers</a:t>
            </a:r>
          </a:p>
          <a:p>
            <a:pPr algn="l">
              <a:lnSpc>
                <a:spcPts val="11370"/>
              </a:lnSpc>
            </a:pPr>
            <a:endParaRPr lang="en-US" sz="6799" spc="-67">
              <a:solidFill>
                <a:srgbClr val="2657C1"/>
              </a:solidFill>
              <a:latin typeface="Etna Sans Serif"/>
              <a:ea typeface="Etna Sans Serif"/>
              <a:cs typeface="Etna Sans Serif"/>
              <a:sym typeface="Etna Sans Serif"/>
            </a:endParaRPr>
          </a:p>
        </p:txBody>
      </p:sp>
      <p:sp>
        <p:nvSpPr>
          <p:cNvPr id="10" name="TextBox 10"/>
          <p:cNvSpPr txBox="1"/>
          <p:nvPr/>
        </p:nvSpPr>
        <p:spPr>
          <a:xfrm>
            <a:off x="9625511" y="2173085"/>
            <a:ext cx="6753603" cy="8418342"/>
          </a:xfrm>
          <a:prstGeom prst="rect">
            <a:avLst/>
          </a:prstGeom>
        </p:spPr>
        <p:txBody>
          <a:bodyPr lIns="0" tIns="0" rIns="0" bIns="0" rtlCol="0" anchor="t">
            <a:spAutoFit/>
          </a:bodyPr>
          <a:lstStyle/>
          <a:p>
            <a:pPr marL="581497" lvl="1" indent="-290748" algn="l">
              <a:lnSpc>
                <a:spcPts val="3770"/>
              </a:lnSpc>
              <a:buFont typeface="Arial"/>
              <a:buChar char="•"/>
            </a:pPr>
            <a:r>
              <a:rPr lang="en-US" sz="2693">
                <a:solidFill>
                  <a:srgbClr val="182D88"/>
                </a:solidFill>
                <a:latin typeface="Comic Sans"/>
                <a:ea typeface="Comic Sans"/>
                <a:cs typeface="Comic Sans"/>
                <a:sym typeface="Comic Sans"/>
              </a:rPr>
              <a:t>Urgency</a:t>
            </a:r>
          </a:p>
          <a:p>
            <a:pPr algn="just">
              <a:lnSpc>
                <a:spcPts val="3770"/>
              </a:lnSpc>
            </a:pPr>
            <a:r>
              <a:rPr lang="en-US" sz="2693">
                <a:solidFill>
                  <a:srgbClr val="2657C1"/>
                </a:solidFill>
                <a:latin typeface="Comic Sans"/>
                <a:ea typeface="Comic Sans"/>
                <a:cs typeface="Comic Sans"/>
                <a:sym typeface="Comic Sans"/>
              </a:rPr>
              <a:t>“Your account will be suspended within 24 hours.”</a:t>
            </a:r>
          </a:p>
          <a:p>
            <a:pPr algn="just">
              <a:lnSpc>
                <a:spcPts val="3770"/>
              </a:lnSpc>
            </a:pPr>
            <a:endParaRPr lang="en-US" sz="2693">
              <a:solidFill>
                <a:srgbClr val="2657C1"/>
              </a:solidFill>
              <a:latin typeface="Comic Sans"/>
              <a:ea typeface="Comic Sans"/>
              <a:cs typeface="Comic Sans"/>
              <a:sym typeface="Comic Sans"/>
            </a:endParaRPr>
          </a:p>
          <a:p>
            <a:pPr marL="581497" lvl="1" indent="-290748" algn="l">
              <a:lnSpc>
                <a:spcPts val="3770"/>
              </a:lnSpc>
              <a:buFont typeface="Arial"/>
              <a:buChar char="•"/>
            </a:pPr>
            <a:r>
              <a:rPr lang="en-US" sz="2693">
                <a:solidFill>
                  <a:srgbClr val="182D88"/>
                </a:solidFill>
                <a:latin typeface="Comic Sans"/>
                <a:ea typeface="Comic Sans"/>
                <a:cs typeface="Comic Sans"/>
                <a:sym typeface="Comic Sans"/>
              </a:rPr>
              <a:t>Fear</a:t>
            </a:r>
          </a:p>
          <a:p>
            <a:pPr algn="just">
              <a:lnSpc>
                <a:spcPts val="3770"/>
              </a:lnSpc>
            </a:pPr>
            <a:r>
              <a:rPr lang="en-US" sz="2693">
                <a:solidFill>
                  <a:srgbClr val="2657C1"/>
                </a:solidFill>
                <a:latin typeface="Comic Sans"/>
                <a:ea typeface="Comic Sans"/>
                <a:cs typeface="Comic Sans"/>
                <a:sym typeface="Comic Sans"/>
              </a:rPr>
              <a:t>“Suspicious login detected.”</a:t>
            </a:r>
          </a:p>
          <a:p>
            <a:pPr algn="just">
              <a:lnSpc>
                <a:spcPts val="3770"/>
              </a:lnSpc>
            </a:pPr>
            <a:endParaRPr lang="en-US" sz="2693">
              <a:solidFill>
                <a:srgbClr val="2657C1"/>
              </a:solidFill>
              <a:latin typeface="Comic Sans"/>
              <a:ea typeface="Comic Sans"/>
              <a:cs typeface="Comic Sans"/>
              <a:sym typeface="Comic Sans"/>
            </a:endParaRPr>
          </a:p>
          <a:p>
            <a:pPr marL="581497" lvl="1" indent="-290748" algn="l">
              <a:lnSpc>
                <a:spcPts val="3770"/>
              </a:lnSpc>
              <a:buFont typeface="Arial"/>
              <a:buChar char="•"/>
            </a:pPr>
            <a:r>
              <a:rPr lang="en-US" sz="2693">
                <a:solidFill>
                  <a:srgbClr val="182D88"/>
                </a:solidFill>
                <a:latin typeface="Comic Sans"/>
                <a:ea typeface="Comic Sans"/>
                <a:cs typeface="Comic Sans"/>
                <a:sym typeface="Comic Sans"/>
              </a:rPr>
              <a:t>Curiosity</a:t>
            </a:r>
          </a:p>
          <a:p>
            <a:pPr algn="just">
              <a:lnSpc>
                <a:spcPts val="3770"/>
              </a:lnSpc>
            </a:pPr>
            <a:r>
              <a:rPr lang="en-US" sz="2693">
                <a:solidFill>
                  <a:srgbClr val="2657C1"/>
                </a:solidFill>
                <a:latin typeface="Comic Sans"/>
                <a:ea typeface="Comic Sans"/>
                <a:cs typeface="Comic Sans"/>
                <a:sym typeface="Comic Sans"/>
              </a:rPr>
              <a:t>“You received a confidential document.”</a:t>
            </a:r>
          </a:p>
          <a:p>
            <a:pPr algn="just">
              <a:lnSpc>
                <a:spcPts val="3770"/>
              </a:lnSpc>
            </a:pPr>
            <a:endParaRPr lang="en-US" sz="2693">
              <a:solidFill>
                <a:srgbClr val="2657C1"/>
              </a:solidFill>
              <a:latin typeface="Comic Sans"/>
              <a:ea typeface="Comic Sans"/>
              <a:cs typeface="Comic Sans"/>
              <a:sym typeface="Comic Sans"/>
            </a:endParaRPr>
          </a:p>
          <a:p>
            <a:pPr marL="581497" lvl="1" indent="-290748" algn="l">
              <a:lnSpc>
                <a:spcPts val="3770"/>
              </a:lnSpc>
              <a:buFont typeface="Arial"/>
              <a:buChar char="•"/>
            </a:pPr>
            <a:r>
              <a:rPr lang="en-US" sz="2693">
                <a:solidFill>
                  <a:srgbClr val="182D88"/>
                </a:solidFill>
                <a:latin typeface="Comic Sans"/>
                <a:ea typeface="Comic Sans"/>
                <a:cs typeface="Comic Sans"/>
                <a:sym typeface="Comic Sans"/>
              </a:rPr>
              <a:t>Rewards</a:t>
            </a:r>
          </a:p>
          <a:p>
            <a:pPr algn="just">
              <a:lnSpc>
                <a:spcPts val="3770"/>
              </a:lnSpc>
            </a:pPr>
            <a:r>
              <a:rPr lang="en-US" sz="2693">
                <a:solidFill>
                  <a:srgbClr val="2657C1"/>
                </a:solidFill>
                <a:latin typeface="Comic Sans"/>
                <a:ea typeface="Comic Sans"/>
                <a:cs typeface="Comic Sans"/>
                <a:sym typeface="Comic Sans"/>
              </a:rPr>
              <a:t>“You won a free iPhone.”</a:t>
            </a:r>
          </a:p>
          <a:p>
            <a:pPr algn="just">
              <a:lnSpc>
                <a:spcPts val="3770"/>
              </a:lnSpc>
            </a:pPr>
            <a:endParaRPr lang="en-US" sz="2693">
              <a:solidFill>
                <a:srgbClr val="2657C1"/>
              </a:solidFill>
              <a:latin typeface="Comic Sans"/>
              <a:ea typeface="Comic Sans"/>
              <a:cs typeface="Comic Sans"/>
              <a:sym typeface="Comic Sans"/>
            </a:endParaRPr>
          </a:p>
          <a:p>
            <a:pPr marL="581497" lvl="1" indent="-290748" algn="l">
              <a:lnSpc>
                <a:spcPts val="3770"/>
              </a:lnSpc>
              <a:buFont typeface="Arial"/>
              <a:buChar char="•"/>
            </a:pPr>
            <a:r>
              <a:rPr lang="en-US" sz="2693">
                <a:solidFill>
                  <a:srgbClr val="182D88"/>
                </a:solidFill>
                <a:latin typeface="Comic Sans"/>
                <a:ea typeface="Comic Sans"/>
                <a:cs typeface="Comic Sans"/>
                <a:sym typeface="Comic Sans"/>
              </a:rPr>
              <a:t>Authority</a:t>
            </a:r>
          </a:p>
          <a:p>
            <a:pPr algn="just">
              <a:lnSpc>
                <a:spcPts val="3770"/>
              </a:lnSpc>
            </a:pPr>
            <a:r>
              <a:rPr lang="en-US" sz="2693">
                <a:solidFill>
                  <a:srgbClr val="2657C1"/>
                </a:solidFill>
                <a:latin typeface="Comic Sans"/>
                <a:ea typeface="Comic Sans"/>
                <a:cs typeface="Comic Sans"/>
                <a:sym typeface="Comic Sans"/>
              </a:rPr>
              <a:t>Pretending to be: IT staff, Banks, Employers, Government agencies</a:t>
            </a:r>
          </a:p>
          <a:p>
            <a:pPr algn="just">
              <a:lnSpc>
                <a:spcPts val="3630"/>
              </a:lnSpc>
            </a:pPr>
            <a:endParaRPr lang="en-US" sz="2693">
              <a:solidFill>
                <a:srgbClr val="2657C1"/>
              </a:solidFill>
              <a:latin typeface="Comic Sans"/>
              <a:ea typeface="Comic Sans"/>
              <a:cs typeface="Comic Sans"/>
              <a:sym typeface="Comic Sans"/>
            </a:endParaRPr>
          </a:p>
          <a:p>
            <a:pPr marL="0" lvl="0" indent="0" algn="just">
              <a:lnSpc>
                <a:spcPts val="2723"/>
              </a:lnSpc>
              <a:spcBef>
                <a:spcPct val="0"/>
              </a:spcBef>
            </a:pPr>
            <a:endParaRPr lang="en-US" sz="2693">
              <a:solidFill>
                <a:srgbClr val="2657C1"/>
              </a:solidFill>
              <a:latin typeface="Comic Sans"/>
              <a:ea typeface="Comic Sans"/>
              <a:cs typeface="Comic Sans"/>
              <a:sym typeface="Comic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213007"/>
            <a:chOff x="0" y="0"/>
            <a:chExt cx="4816593" cy="56101"/>
          </a:xfrm>
        </p:grpSpPr>
        <p:sp>
          <p:nvSpPr>
            <p:cNvPr id="3" name="Freeform 3"/>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4" name="TextBox 4"/>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graphicFrame>
        <p:nvGraphicFramePr>
          <p:cNvPr id="5" name="Table 5"/>
          <p:cNvGraphicFramePr>
            <a:graphicFrameLocks noGrp="1"/>
          </p:cNvGraphicFramePr>
          <p:nvPr/>
        </p:nvGraphicFramePr>
        <p:xfrm>
          <a:off x="436434" y="1955886"/>
          <a:ext cx="17424658" cy="8236954"/>
        </p:xfrm>
        <a:graphic>
          <a:graphicData uri="http://schemas.openxmlformats.org/drawingml/2006/table">
            <a:tbl>
              <a:tblPr/>
              <a:tblGrid>
                <a:gridCol w="4352971">
                  <a:extLst>
                    <a:ext uri="{9D8B030D-6E8A-4147-A177-3AD203B41FA5}">
                      <a16:colId xmlns:a16="http://schemas.microsoft.com/office/drawing/2014/main" val="20000"/>
                    </a:ext>
                  </a:extLst>
                </a:gridCol>
                <a:gridCol w="6010274">
                  <a:extLst>
                    <a:ext uri="{9D8B030D-6E8A-4147-A177-3AD203B41FA5}">
                      <a16:colId xmlns:a16="http://schemas.microsoft.com/office/drawing/2014/main" val="20001"/>
                    </a:ext>
                  </a:extLst>
                </a:gridCol>
                <a:gridCol w="7061413">
                  <a:extLst>
                    <a:ext uri="{9D8B030D-6E8A-4147-A177-3AD203B41FA5}">
                      <a16:colId xmlns:a16="http://schemas.microsoft.com/office/drawing/2014/main" val="20002"/>
                    </a:ext>
                  </a:extLst>
                </a:gridCol>
              </a:tblGrid>
              <a:tr h="1007745">
                <a:tc>
                  <a:txBody>
                    <a:bodyPr/>
                    <a:lstStyle/>
                    <a:p>
                      <a:pPr algn="ctr">
                        <a:lnSpc>
                          <a:spcPts val="3499"/>
                        </a:lnSpc>
                        <a:defRPr/>
                      </a:pPr>
                      <a:r>
                        <a:rPr lang="en-US" sz="2499" b="1">
                          <a:solidFill>
                            <a:srgbClr val="D75640"/>
                          </a:solidFill>
                          <a:latin typeface="Comic Sans Bold"/>
                          <a:ea typeface="Comic Sans Bold"/>
                          <a:cs typeface="Comic Sans Bold"/>
                          <a:sym typeface="Comic Sans Bold"/>
                        </a:rPr>
                        <a:t>Phishing Red Flag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D75640"/>
                          </a:solidFill>
                          <a:latin typeface="Comic Sans Bold"/>
                          <a:ea typeface="Comic Sans Bold"/>
                          <a:cs typeface="Comic Sans Bold"/>
                          <a:sym typeface="Comic Sans Bold"/>
                        </a:rPr>
                        <a:t>What to Look for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D75640"/>
                          </a:solidFill>
                          <a:latin typeface="Comic Sans Bold"/>
                          <a:ea typeface="Comic Sans Bold"/>
                          <a:cs typeface="Comic Sans Bold"/>
                          <a:sym typeface="Comic Sans Bold"/>
                        </a:rPr>
                        <a:t>Example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09039">
                <a:tc>
                  <a:txBody>
                    <a:bodyPr/>
                    <a:lstStyle/>
                    <a:p>
                      <a:pPr algn="ctr">
                        <a:lnSpc>
                          <a:spcPts val="3499"/>
                        </a:lnSpc>
                        <a:defRPr/>
                      </a:pPr>
                      <a:r>
                        <a:rPr lang="en-US" sz="2499" b="1">
                          <a:solidFill>
                            <a:srgbClr val="182D88"/>
                          </a:solidFill>
                          <a:latin typeface="Comic Sans Bold"/>
                          <a:ea typeface="Comic Sans Bold"/>
                          <a:cs typeface="Comic Sans Bold"/>
                          <a:sym typeface="Comic Sans Bold"/>
                        </a:rPr>
                        <a:t>Suspicious Sender Address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Fake or unusual email domains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support@paypa1.com</a:t>
                      </a:r>
                      <a:endParaRPr lang="en-US" sz="1100"/>
                    </a:p>
                    <a:p>
                      <a:pPr algn="ctr">
                        <a:lnSpc>
                          <a:spcPts val="3499"/>
                        </a:lnSpc>
                      </a:pPr>
                      <a:r>
                        <a:rPr lang="en-US" sz="2499" b="1">
                          <a:solidFill>
                            <a:srgbClr val="5170FF"/>
                          </a:solidFill>
                          <a:latin typeface="Comic Sans Bold"/>
                          <a:ea typeface="Comic Sans Bold"/>
                          <a:cs typeface="Comic Sans Bold"/>
                          <a:sym typeface="Comic Sans Bold"/>
                        </a:rPr>
                        <a:t>amazonsupport123@gmail.com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77974">
                <a:tc>
                  <a:txBody>
                    <a:bodyPr/>
                    <a:lstStyle/>
                    <a:p>
                      <a:pPr algn="ctr">
                        <a:lnSpc>
                          <a:spcPts val="3499"/>
                        </a:lnSpc>
                        <a:defRPr/>
                      </a:pPr>
                      <a:r>
                        <a:rPr lang="en-US" sz="2499" b="1">
                          <a:solidFill>
                            <a:srgbClr val="182D88"/>
                          </a:solidFill>
                          <a:latin typeface="Comic Sans Bold"/>
                          <a:ea typeface="Comic Sans Bold"/>
                          <a:cs typeface="Comic Sans Bold"/>
                          <a:sym typeface="Comic Sans Bold"/>
                        </a:rPr>
                        <a:t>Generic Greetings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Messages that avoid using your real 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“Dear Customer”</a:t>
                      </a:r>
                      <a:endParaRPr lang="en-US" sz="1100"/>
                    </a:p>
                    <a:p>
                      <a:pPr algn="ctr">
                        <a:lnSpc>
                          <a:spcPts val="3499"/>
                        </a:lnSpc>
                      </a:pPr>
                      <a:r>
                        <a:rPr lang="en-US" sz="2499" b="1">
                          <a:solidFill>
                            <a:srgbClr val="5170FF"/>
                          </a:solidFill>
                          <a:latin typeface="Comic Sans Bold"/>
                          <a:ea typeface="Comic Sans Bold"/>
                          <a:cs typeface="Comic Sans Bold"/>
                          <a:sym typeface="Comic Sans Bold"/>
                        </a:rPr>
                        <a:t>“Dear User”</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86248">
                <a:tc>
                  <a:txBody>
                    <a:bodyPr/>
                    <a:lstStyle/>
                    <a:p>
                      <a:pPr algn="ctr">
                        <a:lnSpc>
                          <a:spcPts val="3499"/>
                        </a:lnSpc>
                        <a:defRPr/>
                      </a:pPr>
                      <a:r>
                        <a:rPr lang="en-US" sz="2499" b="1">
                          <a:solidFill>
                            <a:srgbClr val="182D88"/>
                          </a:solidFill>
                          <a:latin typeface="Comic Sans Bold"/>
                          <a:ea typeface="Comic Sans Bold"/>
                          <a:cs typeface="Comic Sans Bold"/>
                          <a:sym typeface="Comic Sans Bold"/>
                        </a:rPr>
                        <a:t>Urgent Language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Pressure to act immediately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“Immediate action required”</a:t>
                      </a:r>
                      <a:endParaRPr lang="en-US" sz="1100"/>
                    </a:p>
                    <a:p>
                      <a:pPr algn="ctr">
                        <a:lnSpc>
                          <a:spcPts val="3499"/>
                        </a:lnSpc>
                      </a:pPr>
                      <a:r>
                        <a:rPr lang="en-US" sz="2499" b="1">
                          <a:solidFill>
                            <a:srgbClr val="5170FF"/>
                          </a:solidFill>
                          <a:latin typeface="Comic Sans Bold"/>
                          <a:ea typeface="Comic Sans Bold"/>
                          <a:cs typeface="Comic Sans Bold"/>
                          <a:sym typeface="Comic Sans Bold"/>
                        </a:rPr>
                        <a:t>“Verify now or lose access”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377974">
                <a:tc>
                  <a:txBody>
                    <a:bodyPr/>
                    <a:lstStyle/>
                    <a:p>
                      <a:pPr algn="ctr">
                        <a:lnSpc>
                          <a:spcPts val="3499"/>
                        </a:lnSpc>
                        <a:defRPr/>
                      </a:pPr>
                      <a:r>
                        <a:rPr lang="en-US" sz="2499" b="1">
                          <a:solidFill>
                            <a:srgbClr val="182D88"/>
                          </a:solidFill>
                          <a:latin typeface="Comic Sans Bold"/>
                          <a:ea typeface="Comic Sans Bold"/>
                          <a:cs typeface="Comic Sans Bold"/>
                          <a:sym typeface="Comic Sans Bold"/>
                        </a:rPr>
                        <a:t>Suspicious Links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Links that imitate legitimate websites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Real: paypal.com</a:t>
                      </a:r>
                      <a:endParaRPr lang="en-US" sz="1100"/>
                    </a:p>
                    <a:p>
                      <a:pPr algn="ctr">
                        <a:lnSpc>
                          <a:spcPts val="3499"/>
                        </a:lnSpc>
                      </a:pPr>
                      <a:r>
                        <a:rPr lang="en-US" sz="2499" b="1">
                          <a:solidFill>
                            <a:srgbClr val="5170FF"/>
                          </a:solidFill>
                          <a:latin typeface="Comic Sans Bold"/>
                          <a:ea typeface="Comic Sans Bold"/>
                          <a:cs typeface="Comic Sans Bold"/>
                          <a:sym typeface="Comic Sans Bold"/>
                        </a:rPr>
                        <a:t>Fake: paypa1-security.com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377974">
                <a:tc>
                  <a:txBody>
                    <a:bodyPr/>
                    <a:lstStyle/>
                    <a:p>
                      <a:pPr algn="ctr">
                        <a:lnSpc>
                          <a:spcPts val="3499"/>
                        </a:lnSpc>
                        <a:defRPr/>
                      </a:pPr>
                      <a:r>
                        <a:rPr lang="en-US" sz="2499" b="1">
                          <a:solidFill>
                            <a:srgbClr val="182D88"/>
                          </a:solidFill>
                          <a:latin typeface="Comic Sans Bold"/>
                          <a:ea typeface="Comic Sans Bold"/>
                          <a:cs typeface="Comic Sans Bold"/>
                          <a:sym typeface="Comic Sans Bold"/>
                        </a:rPr>
                        <a:t>Poor Grammar &amp; Spelling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Errors in writing or formatting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b="1">
                          <a:solidFill>
                            <a:srgbClr val="5170FF"/>
                          </a:solidFill>
                          <a:latin typeface="Comic Sans Bold"/>
                          <a:ea typeface="Comic Sans Bold"/>
                          <a:cs typeface="Comic Sans Bold"/>
                          <a:sym typeface="Comic Sans Bold"/>
                        </a:rPr>
                        <a:t>Misspellings, awkward wording, incorrect formatting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Freeform 6"/>
          <p:cNvSpPr/>
          <p:nvPr/>
        </p:nvSpPr>
        <p:spPr>
          <a:xfrm>
            <a:off x="12252037" y="274338"/>
            <a:ext cx="1525703" cy="1620216"/>
          </a:xfrm>
          <a:custGeom>
            <a:avLst/>
            <a:gdLst/>
            <a:ahLst/>
            <a:cxnLst/>
            <a:rect l="l" t="t" r="r" b="b"/>
            <a:pathLst>
              <a:path w="1525703" h="1620216">
                <a:moveTo>
                  <a:pt x="0" y="0"/>
                </a:moveTo>
                <a:lnTo>
                  <a:pt x="1525703" y="0"/>
                </a:lnTo>
                <a:lnTo>
                  <a:pt x="1525703" y="1620216"/>
                </a:lnTo>
                <a:lnTo>
                  <a:pt x="0" y="1620216"/>
                </a:lnTo>
                <a:lnTo>
                  <a:pt x="0" y="0"/>
                </a:lnTo>
                <a:close/>
              </a:path>
            </a:pathLst>
          </a:custGeom>
          <a:blipFill>
            <a:blip r:embed="rId3"/>
            <a:stretch>
              <a:fillRect/>
            </a:stretch>
          </a:blipFill>
        </p:spPr>
        <p:txBody>
          <a:bodyPr/>
          <a:lstStyle/>
          <a:p>
            <a:endParaRPr lang="en-US"/>
          </a:p>
        </p:txBody>
      </p:sp>
      <p:sp>
        <p:nvSpPr>
          <p:cNvPr id="7" name="Freeform 7"/>
          <p:cNvSpPr/>
          <p:nvPr/>
        </p:nvSpPr>
        <p:spPr>
          <a:xfrm>
            <a:off x="14888297" y="159755"/>
            <a:ext cx="2371003" cy="1849382"/>
          </a:xfrm>
          <a:custGeom>
            <a:avLst/>
            <a:gdLst/>
            <a:ahLst/>
            <a:cxnLst/>
            <a:rect l="l" t="t" r="r" b="b"/>
            <a:pathLst>
              <a:path w="2371003" h="1849382">
                <a:moveTo>
                  <a:pt x="0" y="0"/>
                </a:moveTo>
                <a:lnTo>
                  <a:pt x="2371003" y="0"/>
                </a:lnTo>
                <a:lnTo>
                  <a:pt x="2371003" y="1849383"/>
                </a:lnTo>
                <a:lnTo>
                  <a:pt x="0" y="1849383"/>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3196192" y="752849"/>
            <a:ext cx="17912587" cy="862457"/>
          </a:xfrm>
          <a:prstGeom prst="rect">
            <a:avLst/>
          </a:prstGeom>
        </p:spPr>
        <p:txBody>
          <a:bodyPr lIns="0" tIns="0" rIns="0" bIns="0" rtlCol="0" anchor="t">
            <a:spAutoFit/>
          </a:bodyPr>
          <a:lstStyle/>
          <a:p>
            <a:pPr algn="ctr">
              <a:lnSpc>
                <a:spcPts val="6498"/>
              </a:lnSpc>
            </a:pPr>
            <a:r>
              <a:rPr lang="en-US" sz="6699" spc="-66">
                <a:solidFill>
                  <a:srgbClr val="2657C1"/>
                </a:solidFill>
                <a:latin typeface="Etna Sans Serif"/>
                <a:ea typeface="Etna Sans Serif"/>
                <a:cs typeface="Etna Sans Serif"/>
                <a:sym typeface="Etna Sans Serif"/>
              </a:rPr>
              <a:t>Anatomy of a Phishing Email</a:t>
            </a:r>
          </a:p>
        </p:txBody>
      </p:sp>
      <p:sp>
        <p:nvSpPr>
          <p:cNvPr id="9" name="TextBox 9"/>
          <p:cNvSpPr txBox="1"/>
          <p:nvPr/>
        </p:nvSpPr>
        <p:spPr>
          <a:xfrm>
            <a:off x="9139238" y="4924442"/>
            <a:ext cx="9525" cy="390491"/>
          </a:xfrm>
          <a:prstGeom prst="rect">
            <a:avLst/>
          </a:prstGeom>
        </p:spPr>
        <p:txBody>
          <a:bodyPr lIns="0" tIns="0" rIns="0" bIns="0" rtlCol="0" anchor="t">
            <a:spAutoFit/>
          </a:bodyPr>
          <a:lstStyle/>
          <a:p>
            <a:pPr algn="ctr">
              <a:lnSpc>
                <a:spcPts val="3151"/>
              </a:lnSpc>
              <a:spcBef>
                <a:spcPct val="0"/>
              </a:spcBef>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81747" y="21319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3" name="Freeform 3"/>
          <p:cNvSpPr/>
          <p:nvPr/>
        </p:nvSpPr>
        <p:spPr>
          <a:xfrm>
            <a:off x="-772301" y="8742008"/>
            <a:ext cx="2587045" cy="2587045"/>
          </a:xfrm>
          <a:custGeom>
            <a:avLst/>
            <a:gdLst/>
            <a:ahLst/>
            <a:cxnLst/>
            <a:rect l="l" t="t" r="r" b="b"/>
            <a:pathLst>
              <a:path w="2587045" h="2587045">
                <a:moveTo>
                  <a:pt x="0" y="0"/>
                </a:moveTo>
                <a:lnTo>
                  <a:pt x="2587045" y="0"/>
                </a:lnTo>
                <a:lnTo>
                  <a:pt x="2587045" y="2587044"/>
                </a:lnTo>
                <a:lnTo>
                  <a:pt x="0" y="2587044"/>
                </a:lnTo>
                <a:lnTo>
                  <a:pt x="0" y="0"/>
                </a:lnTo>
                <a:close/>
              </a:path>
            </a:pathLst>
          </a:custGeom>
          <a:blipFill>
            <a:blip r:embed="rId3"/>
            <a:stretch>
              <a:fillRect/>
            </a:stretch>
          </a:blipFill>
        </p:spPr>
        <p:txBody>
          <a:bodyPr/>
          <a:lstStyle/>
          <a:p>
            <a:endParaRPr lang="en-US"/>
          </a:p>
        </p:txBody>
      </p:sp>
      <p:sp>
        <p:nvSpPr>
          <p:cNvPr id="4" name="Freeform 4"/>
          <p:cNvSpPr/>
          <p:nvPr/>
        </p:nvSpPr>
        <p:spPr>
          <a:xfrm>
            <a:off x="828254" y="769337"/>
            <a:ext cx="1171372" cy="1171372"/>
          </a:xfrm>
          <a:custGeom>
            <a:avLst/>
            <a:gdLst/>
            <a:ahLst/>
            <a:cxnLst/>
            <a:rect l="l" t="t" r="r" b="b"/>
            <a:pathLst>
              <a:path w="1171372" h="1171372">
                <a:moveTo>
                  <a:pt x="0" y="0"/>
                </a:moveTo>
                <a:lnTo>
                  <a:pt x="1171372" y="0"/>
                </a:lnTo>
                <a:lnTo>
                  <a:pt x="1171372" y="1171372"/>
                </a:lnTo>
                <a:lnTo>
                  <a:pt x="0" y="117137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4685170" y="8585105"/>
            <a:ext cx="4185238" cy="4185238"/>
          </a:xfrm>
          <a:custGeom>
            <a:avLst/>
            <a:gdLst/>
            <a:ahLst/>
            <a:cxnLst/>
            <a:rect l="l" t="t" r="r" b="b"/>
            <a:pathLst>
              <a:path w="4185238" h="4185238">
                <a:moveTo>
                  <a:pt x="0" y="0"/>
                </a:moveTo>
                <a:lnTo>
                  <a:pt x="4185237" y="0"/>
                </a:lnTo>
                <a:lnTo>
                  <a:pt x="4185237" y="4185238"/>
                </a:lnTo>
                <a:lnTo>
                  <a:pt x="0" y="41852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Freeform 9"/>
          <p:cNvSpPr/>
          <p:nvPr/>
        </p:nvSpPr>
        <p:spPr>
          <a:xfrm>
            <a:off x="-318589" y="1940709"/>
            <a:ext cx="7372054" cy="7117383"/>
          </a:xfrm>
          <a:custGeom>
            <a:avLst/>
            <a:gdLst/>
            <a:ahLst/>
            <a:cxnLst/>
            <a:rect l="l" t="t" r="r" b="b"/>
            <a:pathLst>
              <a:path w="7372054" h="7117383">
                <a:moveTo>
                  <a:pt x="0" y="0"/>
                </a:moveTo>
                <a:lnTo>
                  <a:pt x="7372055" y="0"/>
                </a:lnTo>
                <a:lnTo>
                  <a:pt x="7372055" y="7117384"/>
                </a:lnTo>
                <a:lnTo>
                  <a:pt x="0" y="71173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5181754" y="5499401"/>
            <a:ext cx="2430226" cy="2209297"/>
          </a:xfrm>
          <a:custGeom>
            <a:avLst/>
            <a:gdLst/>
            <a:ahLst/>
            <a:cxnLst/>
            <a:rect l="l" t="t" r="r" b="b"/>
            <a:pathLst>
              <a:path w="2430226" h="2209297">
                <a:moveTo>
                  <a:pt x="0" y="0"/>
                </a:moveTo>
                <a:lnTo>
                  <a:pt x="2430226" y="0"/>
                </a:lnTo>
                <a:lnTo>
                  <a:pt x="2430226" y="2209296"/>
                </a:lnTo>
                <a:lnTo>
                  <a:pt x="0" y="220929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2186504" y="753217"/>
            <a:ext cx="13914991" cy="1093770"/>
          </a:xfrm>
          <a:prstGeom prst="rect">
            <a:avLst/>
          </a:prstGeom>
        </p:spPr>
        <p:txBody>
          <a:bodyPr lIns="0" tIns="0" rIns="0" bIns="0" rtlCol="0" anchor="t">
            <a:spAutoFit/>
          </a:bodyPr>
          <a:lstStyle/>
          <a:p>
            <a:pPr algn="ctr">
              <a:lnSpc>
                <a:spcPts val="8170"/>
              </a:lnSpc>
            </a:pPr>
            <a:r>
              <a:rPr lang="en-US" sz="8423" spc="-84">
                <a:solidFill>
                  <a:srgbClr val="2657C1"/>
                </a:solidFill>
                <a:latin typeface="Etna Sans Serif"/>
                <a:ea typeface="Etna Sans Serif"/>
                <a:cs typeface="Etna Sans Serif"/>
                <a:sym typeface="Etna Sans Serif"/>
              </a:rPr>
              <a:t>Fake Websites and URLs</a:t>
            </a:r>
          </a:p>
        </p:txBody>
      </p:sp>
      <p:sp>
        <p:nvSpPr>
          <p:cNvPr id="12" name="TextBox 12"/>
          <p:cNvSpPr txBox="1"/>
          <p:nvPr/>
        </p:nvSpPr>
        <p:spPr>
          <a:xfrm>
            <a:off x="7765057" y="3892915"/>
            <a:ext cx="9846923" cy="5607225"/>
          </a:xfrm>
          <a:prstGeom prst="rect">
            <a:avLst/>
          </a:prstGeom>
        </p:spPr>
        <p:txBody>
          <a:bodyPr lIns="0" tIns="0" rIns="0" bIns="0" rtlCol="0" anchor="t">
            <a:spAutoFit/>
          </a:bodyPr>
          <a:lstStyle/>
          <a:p>
            <a:pPr algn="just">
              <a:lnSpc>
                <a:spcPts val="4609"/>
              </a:lnSpc>
            </a:pPr>
            <a:r>
              <a:rPr lang="en-US" sz="3292">
                <a:solidFill>
                  <a:srgbClr val="808282"/>
                </a:solidFill>
                <a:latin typeface="Comic Sans"/>
                <a:ea typeface="Comic Sans"/>
                <a:cs typeface="Comic Sans"/>
                <a:sym typeface="Comic Sans"/>
              </a:rPr>
              <a:t>Cybercriminals create websites that look identical to legitimate sites.</a:t>
            </a:r>
          </a:p>
          <a:p>
            <a:pPr algn="just">
              <a:lnSpc>
                <a:spcPts val="4609"/>
              </a:lnSpc>
            </a:pPr>
            <a:endParaRPr lang="en-US" sz="3292">
              <a:solidFill>
                <a:srgbClr val="808282"/>
              </a:solidFill>
              <a:latin typeface="Comic Sans"/>
              <a:ea typeface="Comic Sans"/>
              <a:cs typeface="Comic Sans"/>
              <a:sym typeface="Comic Sans"/>
            </a:endParaRPr>
          </a:p>
          <a:p>
            <a:pPr algn="just">
              <a:lnSpc>
                <a:spcPts val="4609"/>
              </a:lnSpc>
            </a:pPr>
            <a:r>
              <a:rPr lang="en-US" sz="3292">
                <a:solidFill>
                  <a:srgbClr val="808282"/>
                </a:solidFill>
                <a:latin typeface="Comic Sans"/>
                <a:ea typeface="Comic Sans"/>
                <a:cs typeface="Comic Sans"/>
                <a:sym typeface="Comic Sans"/>
              </a:rPr>
              <a:t>Common Signs of Fake Websites</a:t>
            </a:r>
          </a:p>
          <a:p>
            <a:pPr marL="710877" lvl="1" indent="-355438" algn="just">
              <a:lnSpc>
                <a:spcPts val="4609"/>
              </a:lnSpc>
              <a:buFont typeface="Arial"/>
              <a:buChar char="•"/>
            </a:pPr>
            <a:r>
              <a:rPr lang="en-US" sz="3292">
                <a:solidFill>
                  <a:srgbClr val="808282"/>
                </a:solidFill>
                <a:latin typeface="Comic Sans"/>
                <a:ea typeface="Comic Sans"/>
                <a:cs typeface="Comic Sans"/>
                <a:sym typeface="Comic Sans"/>
              </a:rPr>
              <a:t>Misspelled domain names</a:t>
            </a:r>
          </a:p>
          <a:p>
            <a:pPr marL="710877" lvl="1" indent="-355438" algn="just">
              <a:lnSpc>
                <a:spcPts val="4609"/>
              </a:lnSpc>
              <a:buFont typeface="Arial"/>
              <a:buChar char="•"/>
            </a:pPr>
            <a:r>
              <a:rPr lang="en-US" sz="3292">
                <a:solidFill>
                  <a:srgbClr val="808282"/>
                </a:solidFill>
                <a:latin typeface="Comic Sans"/>
                <a:ea typeface="Comic Sans"/>
                <a:cs typeface="Comic Sans"/>
                <a:sym typeface="Comic Sans"/>
              </a:rPr>
              <a:t>No HTTPS security lock</a:t>
            </a:r>
          </a:p>
          <a:p>
            <a:pPr marL="710877" lvl="1" indent="-355438" algn="just">
              <a:lnSpc>
                <a:spcPts val="4609"/>
              </a:lnSpc>
              <a:buFont typeface="Arial"/>
              <a:buChar char="•"/>
            </a:pPr>
            <a:r>
              <a:rPr lang="en-US" sz="3292">
                <a:solidFill>
                  <a:srgbClr val="808282"/>
                </a:solidFill>
                <a:latin typeface="Comic Sans"/>
                <a:ea typeface="Comic Sans"/>
                <a:cs typeface="Comic Sans"/>
                <a:sym typeface="Comic Sans"/>
              </a:rPr>
              <a:t>Poor website design</a:t>
            </a:r>
          </a:p>
          <a:p>
            <a:pPr marL="710877" lvl="1" indent="-355438" algn="just">
              <a:lnSpc>
                <a:spcPts val="4609"/>
              </a:lnSpc>
              <a:buFont typeface="Arial"/>
              <a:buChar char="•"/>
            </a:pPr>
            <a:r>
              <a:rPr lang="en-US" sz="3292">
                <a:solidFill>
                  <a:srgbClr val="808282"/>
                </a:solidFill>
                <a:latin typeface="Comic Sans"/>
                <a:ea typeface="Comic Sans"/>
                <a:cs typeface="Comic Sans"/>
                <a:sym typeface="Comic Sans"/>
              </a:rPr>
              <a:t>Strange popups</a:t>
            </a:r>
          </a:p>
          <a:p>
            <a:pPr marL="710877" lvl="1" indent="-355438" algn="just">
              <a:lnSpc>
                <a:spcPts val="4609"/>
              </a:lnSpc>
              <a:buFont typeface="Arial"/>
              <a:buChar char="•"/>
            </a:pPr>
            <a:r>
              <a:rPr lang="en-US" sz="3292">
                <a:solidFill>
                  <a:srgbClr val="808282"/>
                </a:solidFill>
                <a:latin typeface="Comic Sans"/>
                <a:ea typeface="Comic Sans"/>
                <a:cs typeface="Comic Sans"/>
                <a:sym typeface="Comic Sans"/>
              </a:rPr>
              <a:t>Requests for sensitive information</a:t>
            </a:r>
          </a:p>
          <a:p>
            <a:pPr marL="0" lvl="0" indent="0" algn="just">
              <a:lnSpc>
                <a:spcPts val="3070"/>
              </a:lnSpc>
              <a:spcBef>
                <a:spcPct val="0"/>
              </a:spcBef>
            </a:pPr>
            <a:endParaRPr lang="en-US" sz="3292">
              <a:solidFill>
                <a:srgbClr val="808282"/>
              </a:solidFill>
              <a:latin typeface="Comic Sans"/>
              <a:ea typeface="Comic Sans"/>
              <a:cs typeface="Comic Sans"/>
              <a:sym typeface="Comic Sans"/>
            </a:endParaRPr>
          </a:p>
        </p:txBody>
      </p:sp>
      <p:sp>
        <p:nvSpPr>
          <p:cNvPr id="13" name="TextBox 13"/>
          <p:cNvSpPr txBox="1"/>
          <p:nvPr/>
        </p:nvSpPr>
        <p:spPr>
          <a:xfrm>
            <a:off x="7844929" y="2802620"/>
            <a:ext cx="9334500" cy="795020"/>
          </a:xfrm>
          <a:prstGeom prst="rect">
            <a:avLst/>
          </a:prstGeom>
        </p:spPr>
        <p:txBody>
          <a:bodyPr lIns="0" tIns="0" rIns="0" bIns="0" rtlCol="0" anchor="t">
            <a:spAutoFit/>
          </a:bodyPr>
          <a:lstStyle/>
          <a:p>
            <a:pPr algn="ctr">
              <a:lnSpc>
                <a:spcPts val="6580"/>
              </a:lnSpc>
            </a:pPr>
            <a:r>
              <a:rPr lang="en-US" sz="4700" b="1">
                <a:solidFill>
                  <a:srgbClr val="E29417"/>
                </a:solidFill>
                <a:latin typeface="Canva Sans Bold"/>
                <a:ea typeface="Canva Sans Bold"/>
                <a:cs typeface="Canva Sans Bold"/>
                <a:sym typeface="Canva Sans Bold"/>
              </a:rPr>
              <a:t>How Fake Websites Trick Users?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781747" y="213194"/>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3" name="Freeform 3"/>
          <p:cNvSpPr/>
          <p:nvPr/>
        </p:nvSpPr>
        <p:spPr>
          <a:xfrm>
            <a:off x="-772301" y="8742008"/>
            <a:ext cx="2587045" cy="2587045"/>
          </a:xfrm>
          <a:custGeom>
            <a:avLst/>
            <a:gdLst/>
            <a:ahLst/>
            <a:cxnLst/>
            <a:rect l="l" t="t" r="r" b="b"/>
            <a:pathLst>
              <a:path w="2587045" h="2587045">
                <a:moveTo>
                  <a:pt x="0" y="0"/>
                </a:moveTo>
                <a:lnTo>
                  <a:pt x="2587045" y="0"/>
                </a:lnTo>
                <a:lnTo>
                  <a:pt x="2587045" y="2587044"/>
                </a:lnTo>
                <a:lnTo>
                  <a:pt x="0" y="2587044"/>
                </a:lnTo>
                <a:lnTo>
                  <a:pt x="0" y="0"/>
                </a:lnTo>
                <a:close/>
              </a:path>
            </a:pathLst>
          </a:custGeom>
          <a:blipFill>
            <a:blip r:embed="rId3"/>
            <a:stretch>
              <a:fillRect/>
            </a:stretch>
          </a:blipFill>
        </p:spPr>
        <p:txBody>
          <a:bodyPr/>
          <a:lstStyle/>
          <a:p>
            <a:endParaRPr lang="en-US"/>
          </a:p>
        </p:txBody>
      </p:sp>
      <p:sp>
        <p:nvSpPr>
          <p:cNvPr id="4" name="Freeform 4"/>
          <p:cNvSpPr/>
          <p:nvPr/>
        </p:nvSpPr>
        <p:spPr>
          <a:xfrm>
            <a:off x="828254" y="769337"/>
            <a:ext cx="1171372" cy="1171372"/>
          </a:xfrm>
          <a:custGeom>
            <a:avLst/>
            <a:gdLst/>
            <a:ahLst/>
            <a:cxnLst/>
            <a:rect l="l" t="t" r="r" b="b"/>
            <a:pathLst>
              <a:path w="1171372" h="1171372">
                <a:moveTo>
                  <a:pt x="0" y="0"/>
                </a:moveTo>
                <a:lnTo>
                  <a:pt x="1171372" y="0"/>
                </a:lnTo>
                <a:lnTo>
                  <a:pt x="1171372" y="1171372"/>
                </a:lnTo>
                <a:lnTo>
                  <a:pt x="0" y="117137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4685170" y="8585105"/>
            <a:ext cx="4185238" cy="4185238"/>
          </a:xfrm>
          <a:custGeom>
            <a:avLst/>
            <a:gdLst/>
            <a:ahLst/>
            <a:cxnLst/>
            <a:rect l="l" t="t" r="r" b="b"/>
            <a:pathLst>
              <a:path w="4185238" h="4185238">
                <a:moveTo>
                  <a:pt x="0" y="0"/>
                </a:moveTo>
                <a:lnTo>
                  <a:pt x="4185237" y="0"/>
                </a:lnTo>
                <a:lnTo>
                  <a:pt x="4185237" y="4185238"/>
                </a:lnTo>
                <a:lnTo>
                  <a:pt x="0" y="418523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graphicFrame>
        <p:nvGraphicFramePr>
          <p:cNvPr id="9" name="Table 9"/>
          <p:cNvGraphicFramePr>
            <a:graphicFrameLocks noGrp="1"/>
          </p:cNvGraphicFramePr>
          <p:nvPr/>
        </p:nvGraphicFramePr>
        <p:xfrm>
          <a:off x="322643" y="3597640"/>
          <a:ext cx="8342084" cy="4229100"/>
        </p:xfrm>
        <a:graphic>
          <a:graphicData uri="http://schemas.openxmlformats.org/drawingml/2006/table">
            <a:tbl>
              <a:tblPr/>
              <a:tblGrid>
                <a:gridCol w="4171042">
                  <a:extLst>
                    <a:ext uri="{9D8B030D-6E8A-4147-A177-3AD203B41FA5}">
                      <a16:colId xmlns:a16="http://schemas.microsoft.com/office/drawing/2014/main" val="20000"/>
                    </a:ext>
                  </a:extLst>
                </a:gridCol>
                <a:gridCol w="4171042">
                  <a:extLst>
                    <a:ext uri="{9D8B030D-6E8A-4147-A177-3AD203B41FA5}">
                      <a16:colId xmlns:a16="http://schemas.microsoft.com/office/drawing/2014/main" val="20001"/>
                    </a:ext>
                  </a:extLst>
                </a:gridCol>
              </a:tblGrid>
              <a:tr h="1057275">
                <a:tc>
                  <a:txBody>
                    <a:bodyPr/>
                    <a:lstStyle/>
                    <a:p>
                      <a:pPr algn="ctr">
                        <a:lnSpc>
                          <a:spcPts val="3639"/>
                        </a:lnSpc>
                        <a:defRPr/>
                      </a:pPr>
                      <a:r>
                        <a:rPr lang="en-US" sz="2599" b="1">
                          <a:solidFill>
                            <a:srgbClr val="000000"/>
                          </a:solidFill>
                          <a:latin typeface="Comic Sans Bold"/>
                          <a:ea typeface="Comic Sans Bold"/>
                          <a:cs typeface="Comic Sans Bold"/>
                          <a:sym typeface="Comic Sans Bold"/>
                        </a:rPr>
                        <a:t>Legitimate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3639"/>
                        </a:lnSpc>
                        <a:defRPr/>
                      </a:pPr>
                      <a:r>
                        <a:rPr lang="en-US" sz="2599" b="1">
                          <a:solidFill>
                            <a:srgbClr val="000000"/>
                          </a:solidFill>
                          <a:latin typeface="Comic Sans Bold"/>
                          <a:ea typeface="Comic Sans Bold"/>
                          <a:cs typeface="Comic Sans Bold"/>
                          <a:sym typeface="Comic Sans Bold"/>
                        </a:rPr>
                        <a:t>Fake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1057275">
                <a:tc>
                  <a:txBody>
                    <a:bodyPr/>
                    <a:lstStyle/>
                    <a:p>
                      <a:pPr algn="ctr">
                        <a:lnSpc>
                          <a:spcPts val="3639"/>
                        </a:lnSpc>
                        <a:defRPr/>
                      </a:pPr>
                      <a:r>
                        <a:rPr lang="en-US" sz="2599">
                          <a:solidFill>
                            <a:srgbClr val="000000"/>
                          </a:solidFill>
                          <a:latin typeface="Comic Sans"/>
                          <a:ea typeface="Comic Sans"/>
                          <a:cs typeface="Comic Sans"/>
                          <a:sym typeface="Comic Sans"/>
                        </a:rPr>
                        <a:t>paypal.com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639"/>
                        </a:lnSpc>
                        <a:defRPr/>
                      </a:pPr>
                      <a:r>
                        <a:rPr lang="en-US" sz="2599">
                          <a:solidFill>
                            <a:srgbClr val="000000"/>
                          </a:solidFill>
                          <a:latin typeface="Comic Sans"/>
                          <a:ea typeface="Comic Sans"/>
                          <a:cs typeface="Comic Sans"/>
                          <a:sym typeface="Comic Sans"/>
                        </a:rPr>
                        <a:t>paypa1.com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057275">
                <a:tc>
                  <a:txBody>
                    <a:bodyPr/>
                    <a:lstStyle/>
                    <a:p>
                      <a:pPr algn="ctr">
                        <a:lnSpc>
                          <a:spcPts val="3639"/>
                        </a:lnSpc>
                        <a:defRPr/>
                      </a:pPr>
                      <a:r>
                        <a:rPr lang="en-US" sz="2599">
                          <a:solidFill>
                            <a:srgbClr val="000000"/>
                          </a:solidFill>
                          <a:latin typeface="Comic Sans"/>
                          <a:ea typeface="Comic Sans"/>
                          <a:cs typeface="Comic Sans"/>
                          <a:sym typeface="Comic Sans"/>
                        </a:rPr>
                        <a:t>amazon.com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639"/>
                        </a:lnSpc>
                        <a:defRPr/>
                      </a:pPr>
                      <a:r>
                        <a:rPr lang="en-US" sz="2599">
                          <a:solidFill>
                            <a:srgbClr val="000000"/>
                          </a:solidFill>
                          <a:latin typeface="Comic Sans"/>
                          <a:ea typeface="Comic Sans"/>
                          <a:cs typeface="Comic Sans"/>
                          <a:sym typeface="Comic Sans"/>
                        </a:rPr>
                        <a:t>amaz0n.com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057275">
                <a:tc>
                  <a:txBody>
                    <a:bodyPr/>
                    <a:lstStyle/>
                    <a:p>
                      <a:pPr algn="ctr">
                        <a:lnSpc>
                          <a:spcPts val="3639"/>
                        </a:lnSpc>
                        <a:defRPr/>
                      </a:pPr>
                      <a:r>
                        <a:rPr lang="en-US" sz="2599">
                          <a:solidFill>
                            <a:srgbClr val="000000"/>
                          </a:solidFill>
                          <a:latin typeface="Comic Sans"/>
                          <a:ea typeface="Comic Sans"/>
                          <a:cs typeface="Comic Sans"/>
                          <a:sym typeface="Comic Sans"/>
                        </a:rPr>
                        <a:t>microsoft.com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639"/>
                        </a:lnSpc>
                        <a:defRPr/>
                      </a:pPr>
                      <a:r>
                        <a:rPr lang="en-US" sz="2599">
                          <a:solidFill>
                            <a:srgbClr val="000000"/>
                          </a:solidFill>
                          <a:latin typeface="Comic Sans"/>
                          <a:ea typeface="Comic Sans"/>
                          <a:cs typeface="Comic Sans"/>
                          <a:sym typeface="Comic Sans"/>
                        </a:rPr>
                        <a:t>microsoft-support.net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bl>
          </a:graphicData>
        </a:graphic>
      </p:graphicFrame>
      <p:sp>
        <p:nvSpPr>
          <p:cNvPr id="10" name="Freeform 10"/>
          <p:cNvSpPr/>
          <p:nvPr/>
        </p:nvSpPr>
        <p:spPr>
          <a:xfrm>
            <a:off x="10340284" y="4536487"/>
            <a:ext cx="4755639" cy="1414803"/>
          </a:xfrm>
          <a:custGeom>
            <a:avLst/>
            <a:gdLst/>
            <a:ahLst/>
            <a:cxnLst/>
            <a:rect l="l" t="t" r="r" b="b"/>
            <a:pathLst>
              <a:path w="4755639" h="1414803">
                <a:moveTo>
                  <a:pt x="0" y="0"/>
                </a:moveTo>
                <a:lnTo>
                  <a:pt x="4755639" y="0"/>
                </a:lnTo>
                <a:lnTo>
                  <a:pt x="4755639" y="1414803"/>
                </a:lnTo>
                <a:lnTo>
                  <a:pt x="0" y="1414803"/>
                </a:lnTo>
                <a:lnTo>
                  <a:pt x="0" y="0"/>
                </a:lnTo>
                <a:close/>
              </a:path>
            </a:pathLst>
          </a:custGeom>
          <a:blipFill>
            <a:blip r:embed="rId5"/>
            <a:stretch>
              <a:fillRect/>
            </a:stretch>
          </a:blipFill>
        </p:spPr>
        <p:txBody>
          <a:bodyPr/>
          <a:lstStyle/>
          <a:p>
            <a:endParaRPr lang="en-US"/>
          </a:p>
        </p:txBody>
      </p:sp>
      <p:sp>
        <p:nvSpPr>
          <p:cNvPr id="11" name="Freeform 11"/>
          <p:cNvSpPr/>
          <p:nvPr/>
        </p:nvSpPr>
        <p:spPr>
          <a:xfrm>
            <a:off x="10340284" y="6313240"/>
            <a:ext cx="4755639" cy="1414803"/>
          </a:xfrm>
          <a:custGeom>
            <a:avLst/>
            <a:gdLst/>
            <a:ahLst/>
            <a:cxnLst/>
            <a:rect l="l" t="t" r="r" b="b"/>
            <a:pathLst>
              <a:path w="4755639" h="1414803">
                <a:moveTo>
                  <a:pt x="0" y="0"/>
                </a:moveTo>
                <a:lnTo>
                  <a:pt x="4755639" y="0"/>
                </a:lnTo>
                <a:lnTo>
                  <a:pt x="4755639" y="1414803"/>
                </a:lnTo>
                <a:lnTo>
                  <a:pt x="0" y="1414803"/>
                </a:lnTo>
                <a:lnTo>
                  <a:pt x="0" y="0"/>
                </a:lnTo>
                <a:close/>
              </a:path>
            </a:pathLst>
          </a:custGeom>
          <a:blipFill>
            <a:blip r:embed="rId5"/>
            <a:stretch>
              <a:fillRect/>
            </a:stretch>
          </a:blipFill>
        </p:spPr>
        <p:txBody>
          <a:bodyPr/>
          <a:lstStyle/>
          <a:p>
            <a:endParaRPr lang="en-US"/>
          </a:p>
        </p:txBody>
      </p:sp>
      <p:sp>
        <p:nvSpPr>
          <p:cNvPr id="12" name="Freeform 12"/>
          <p:cNvSpPr/>
          <p:nvPr/>
        </p:nvSpPr>
        <p:spPr>
          <a:xfrm>
            <a:off x="15807868" y="4536487"/>
            <a:ext cx="1451432" cy="1135745"/>
          </a:xfrm>
          <a:custGeom>
            <a:avLst/>
            <a:gdLst/>
            <a:ahLst/>
            <a:cxnLst/>
            <a:rect l="l" t="t" r="r" b="b"/>
            <a:pathLst>
              <a:path w="1451432" h="1135745">
                <a:moveTo>
                  <a:pt x="0" y="0"/>
                </a:moveTo>
                <a:lnTo>
                  <a:pt x="1451432" y="0"/>
                </a:lnTo>
                <a:lnTo>
                  <a:pt x="1451432" y="1135746"/>
                </a:lnTo>
                <a:lnTo>
                  <a:pt x="0" y="1135746"/>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2186504" y="753217"/>
            <a:ext cx="13914991" cy="1093770"/>
          </a:xfrm>
          <a:prstGeom prst="rect">
            <a:avLst/>
          </a:prstGeom>
        </p:spPr>
        <p:txBody>
          <a:bodyPr lIns="0" tIns="0" rIns="0" bIns="0" rtlCol="0" anchor="t">
            <a:spAutoFit/>
          </a:bodyPr>
          <a:lstStyle/>
          <a:p>
            <a:pPr algn="ctr">
              <a:lnSpc>
                <a:spcPts val="8170"/>
              </a:lnSpc>
            </a:pPr>
            <a:r>
              <a:rPr lang="en-US" sz="8423" spc="-84">
                <a:solidFill>
                  <a:srgbClr val="2657C1"/>
                </a:solidFill>
                <a:latin typeface="Etna Sans Serif"/>
                <a:ea typeface="Etna Sans Serif"/>
                <a:cs typeface="Etna Sans Serif"/>
                <a:sym typeface="Etna Sans Serif"/>
              </a:rPr>
              <a:t>Fake Websites and URLs</a:t>
            </a:r>
          </a:p>
        </p:txBody>
      </p:sp>
      <p:sp>
        <p:nvSpPr>
          <p:cNvPr id="14" name="TextBox 14"/>
          <p:cNvSpPr txBox="1"/>
          <p:nvPr/>
        </p:nvSpPr>
        <p:spPr>
          <a:xfrm>
            <a:off x="521221" y="2440670"/>
            <a:ext cx="7479779" cy="795020"/>
          </a:xfrm>
          <a:prstGeom prst="rect">
            <a:avLst/>
          </a:prstGeom>
        </p:spPr>
        <p:txBody>
          <a:bodyPr wrap="square" lIns="0" tIns="0" rIns="0" bIns="0" rtlCol="0" anchor="t">
            <a:spAutoFit/>
          </a:bodyPr>
          <a:lstStyle/>
          <a:p>
            <a:pPr algn="ctr">
              <a:lnSpc>
                <a:spcPts val="6580"/>
              </a:lnSpc>
            </a:pPr>
            <a:r>
              <a:rPr lang="en-US" sz="4700" b="1" dirty="0">
                <a:solidFill>
                  <a:srgbClr val="E29417"/>
                </a:solidFill>
                <a:latin typeface="Canva Sans Bold"/>
                <a:ea typeface="Canva Sans Bold"/>
                <a:cs typeface="Canva Sans Bold"/>
                <a:sym typeface="Canva Sans Bold"/>
              </a:rPr>
              <a:t>Examples of Fake URLs</a:t>
            </a:r>
          </a:p>
        </p:txBody>
      </p:sp>
      <p:sp>
        <p:nvSpPr>
          <p:cNvPr id="15" name="TextBox 15"/>
          <p:cNvSpPr txBox="1"/>
          <p:nvPr/>
        </p:nvSpPr>
        <p:spPr>
          <a:xfrm>
            <a:off x="9743494" y="3521440"/>
            <a:ext cx="8544506" cy="1953895"/>
          </a:xfrm>
          <a:prstGeom prst="rect">
            <a:avLst/>
          </a:prstGeom>
        </p:spPr>
        <p:txBody>
          <a:bodyPr lIns="0" tIns="0" rIns="0" bIns="0" rtlCol="0" anchor="t">
            <a:spAutoFit/>
          </a:bodyPr>
          <a:lstStyle/>
          <a:p>
            <a:pPr algn="l">
              <a:lnSpc>
                <a:spcPts val="5180"/>
              </a:lnSpc>
              <a:spcBef>
                <a:spcPct val="0"/>
              </a:spcBef>
            </a:pPr>
            <a:r>
              <a:rPr lang="en-US" sz="3700" b="1">
                <a:solidFill>
                  <a:srgbClr val="000000"/>
                </a:solidFill>
                <a:latin typeface="Comic Sans Bold"/>
                <a:ea typeface="Comic Sans Bold"/>
                <a:cs typeface="Comic Sans Bold"/>
                <a:sym typeface="Comic Sans Bold"/>
              </a:rPr>
              <a:t>Secure websites should display:</a:t>
            </a:r>
          </a:p>
          <a:p>
            <a:pPr algn="l">
              <a:lnSpc>
                <a:spcPts val="5180"/>
              </a:lnSpc>
            </a:pPr>
            <a:endParaRPr lang="en-US" sz="3700" b="1">
              <a:solidFill>
                <a:srgbClr val="000000"/>
              </a:solidFill>
              <a:latin typeface="Comic Sans Bold"/>
              <a:ea typeface="Comic Sans Bold"/>
              <a:cs typeface="Comic Sans Bold"/>
              <a:sym typeface="Comic Sans Bold"/>
            </a:endParaRPr>
          </a:p>
          <a:p>
            <a:pPr algn="ctr">
              <a:lnSpc>
                <a:spcPts val="5180"/>
              </a:lnSpc>
              <a:spcBef>
                <a:spcPct val="0"/>
              </a:spcBef>
            </a:pPr>
            <a:endParaRPr lang="en-US" sz="3700" b="1">
              <a:solidFill>
                <a:srgbClr val="000000"/>
              </a:solidFill>
              <a:latin typeface="Comic Sans Bold"/>
              <a:ea typeface="Comic Sans Bold"/>
              <a:cs typeface="Comic Sans Bold"/>
              <a:sym typeface="Comic Sans Bold"/>
            </a:endParaRPr>
          </a:p>
        </p:txBody>
      </p:sp>
      <p:sp>
        <p:nvSpPr>
          <p:cNvPr id="16" name="TextBox 16"/>
          <p:cNvSpPr txBox="1"/>
          <p:nvPr/>
        </p:nvSpPr>
        <p:spPr>
          <a:xfrm>
            <a:off x="9743494" y="2440670"/>
            <a:ext cx="7031346" cy="795020"/>
          </a:xfrm>
          <a:prstGeom prst="rect">
            <a:avLst/>
          </a:prstGeom>
        </p:spPr>
        <p:txBody>
          <a:bodyPr wrap="square" lIns="0" tIns="0" rIns="0" bIns="0" rtlCol="0" anchor="t">
            <a:spAutoFit/>
          </a:bodyPr>
          <a:lstStyle/>
          <a:p>
            <a:pPr algn="ctr">
              <a:lnSpc>
                <a:spcPts val="6580"/>
              </a:lnSpc>
            </a:pPr>
            <a:r>
              <a:rPr lang="en-US" sz="4700" b="1" dirty="0">
                <a:solidFill>
                  <a:srgbClr val="E29417"/>
                </a:solidFill>
                <a:latin typeface="Canva Sans Bold"/>
                <a:ea typeface="Canva Sans Bold"/>
                <a:cs typeface="Canva Sans Bold"/>
                <a:sym typeface="Canva Sans Bold"/>
              </a:rPr>
              <a:t>Importance of HTTPS</a:t>
            </a:r>
          </a:p>
        </p:txBody>
      </p:sp>
      <p:sp>
        <p:nvSpPr>
          <p:cNvPr id="17" name="TextBox 17"/>
          <p:cNvSpPr txBox="1"/>
          <p:nvPr/>
        </p:nvSpPr>
        <p:spPr>
          <a:xfrm>
            <a:off x="12070751" y="4858402"/>
            <a:ext cx="1294706" cy="513046"/>
          </a:xfrm>
          <a:prstGeom prst="rect">
            <a:avLst/>
          </a:prstGeom>
        </p:spPr>
        <p:txBody>
          <a:bodyPr lIns="0" tIns="0" rIns="0" bIns="0" rtlCol="0" anchor="t">
            <a:spAutoFit/>
          </a:bodyPr>
          <a:lstStyle/>
          <a:p>
            <a:pPr algn="ctr">
              <a:lnSpc>
                <a:spcPts val="4271"/>
              </a:lnSpc>
              <a:spcBef>
                <a:spcPct val="0"/>
              </a:spcBef>
            </a:pPr>
            <a:r>
              <a:rPr lang="en-US" sz="3051">
                <a:solidFill>
                  <a:srgbClr val="000000"/>
                </a:solidFill>
                <a:latin typeface="Comic Sans"/>
                <a:ea typeface="Comic Sans"/>
                <a:cs typeface="Comic Sans"/>
                <a:sym typeface="Comic Sans"/>
              </a:rPr>
              <a:t>HTTPS</a:t>
            </a:r>
          </a:p>
        </p:txBody>
      </p:sp>
      <p:sp>
        <p:nvSpPr>
          <p:cNvPr id="18" name="TextBox 18"/>
          <p:cNvSpPr txBox="1"/>
          <p:nvPr/>
        </p:nvSpPr>
        <p:spPr>
          <a:xfrm>
            <a:off x="10340284" y="6620626"/>
            <a:ext cx="4755639" cy="513046"/>
          </a:xfrm>
          <a:prstGeom prst="rect">
            <a:avLst/>
          </a:prstGeom>
        </p:spPr>
        <p:txBody>
          <a:bodyPr lIns="0" tIns="0" rIns="0" bIns="0" rtlCol="0" anchor="t">
            <a:spAutoFit/>
          </a:bodyPr>
          <a:lstStyle/>
          <a:p>
            <a:pPr algn="ctr">
              <a:lnSpc>
                <a:spcPts val="4271"/>
              </a:lnSpc>
              <a:spcBef>
                <a:spcPct val="0"/>
              </a:spcBef>
            </a:pPr>
            <a:r>
              <a:rPr lang="en-US" sz="3051">
                <a:solidFill>
                  <a:srgbClr val="000000"/>
                </a:solidFill>
                <a:latin typeface="Comic Sans"/>
                <a:ea typeface="Comic Sans"/>
                <a:cs typeface="Comic Sans"/>
                <a:sym typeface="Comic Sans"/>
              </a:rPr>
              <a:t>Padlock icon in browser</a:t>
            </a:r>
          </a:p>
        </p:txBody>
      </p:sp>
      <p:sp>
        <p:nvSpPr>
          <p:cNvPr id="19" name="Freeform 19"/>
          <p:cNvSpPr/>
          <p:nvPr/>
        </p:nvSpPr>
        <p:spPr>
          <a:xfrm>
            <a:off x="15807868" y="6313240"/>
            <a:ext cx="1451432" cy="1135745"/>
          </a:xfrm>
          <a:custGeom>
            <a:avLst/>
            <a:gdLst/>
            <a:ahLst/>
            <a:cxnLst/>
            <a:rect l="l" t="t" r="r" b="b"/>
            <a:pathLst>
              <a:path w="1451432" h="1135745">
                <a:moveTo>
                  <a:pt x="0" y="0"/>
                </a:moveTo>
                <a:lnTo>
                  <a:pt x="1451432" y="0"/>
                </a:lnTo>
                <a:lnTo>
                  <a:pt x="1451432" y="1135745"/>
                </a:lnTo>
                <a:lnTo>
                  <a:pt x="0" y="1135745"/>
                </a:lnTo>
                <a:lnTo>
                  <a:pt x="0" y="0"/>
                </a:lnTo>
                <a:close/>
              </a:path>
            </a:pathLst>
          </a:custGeom>
          <a:blipFill>
            <a:blip r:embed="rId6"/>
            <a:stretch>
              <a:fillRect/>
            </a:stretch>
          </a:blipFill>
        </p:spPr>
        <p:txBody>
          <a:bodyPr/>
          <a:lstStyle/>
          <a:p>
            <a:endParaRPr lang="en-US"/>
          </a:p>
        </p:txBody>
      </p:sp>
      <p:sp>
        <p:nvSpPr>
          <p:cNvPr id="20" name="TextBox 20"/>
          <p:cNvSpPr txBox="1"/>
          <p:nvPr/>
        </p:nvSpPr>
        <p:spPr>
          <a:xfrm>
            <a:off x="3554524" y="8445865"/>
            <a:ext cx="11178952" cy="1064260"/>
          </a:xfrm>
          <a:prstGeom prst="rect">
            <a:avLst/>
          </a:prstGeom>
        </p:spPr>
        <p:txBody>
          <a:bodyPr lIns="0" tIns="0" rIns="0" bIns="0" rtlCol="0" anchor="t">
            <a:spAutoFit/>
          </a:bodyPr>
          <a:lstStyle/>
          <a:p>
            <a:pPr algn="ctr">
              <a:lnSpc>
                <a:spcPts val="4340"/>
              </a:lnSpc>
            </a:pPr>
            <a:r>
              <a:rPr lang="en-US" sz="3100">
                <a:solidFill>
                  <a:srgbClr val="000000"/>
                </a:solidFill>
                <a:latin typeface="Comic Sans"/>
                <a:ea typeface="Comic Sans"/>
                <a:cs typeface="Comic Sans"/>
                <a:sym typeface="Comic Sans"/>
              </a:rPr>
              <a:t>HTTPS encrypts your connection but does not guarantee a website is legitimate.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000">
            <a:off x="1977930" y="-11882"/>
            <a:ext cx="13642624" cy="10310764"/>
          </a:xfrm>
          <a:custGeom>
            <a:avLst/>
            <a:gdLst/>
            <a:ahLst/>
            <a:cxnLst/>
            <a:rect l="l" t="t" r="r" b="b"/>
            <a:pathLst>
              <a:path w="13642624" h="10310764">
                <a:moveTo>
                  <a:pt x="0" y="23780"/>
                </a:moveTo>
                <a:lnTo>
                  <a:pt x="13624671" y="0"/>
                </a:lnTo>
                <a:lnTo>
                  <a:pt x="13642625" y="10286984"/>
                </a:lnTo>
                <a:lnTo>
                  <a:pt x="17955" y="10310764"/>
                </a:lnTo>
                <a:lnTo>
                  <a:pt x="0" y="23780"/>
                </a:lnTo>
                <a:close/>
              </a:path>
            </a:pathLst>
          </a:custGeom>
          <a:blipFill>
            <a:blip r:embed="rId3"/>
            <a:stretch>
              <a:fillRect l="-52" t="-2" r="-1226"/>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53959" y="1105977"/>
            <a:ext cx="2313201" cy="2313201"/>
          </a:xfrm>
          <a:custGeom>
            <a:avLst/>
            <a:gdLst/>
            <a:ahLst/>
            <a:cxnLst/>
            <a:rect l="l" t="t" r="r" b="b"/>
            <a:pathLst>
              <a:path w="2313201" h="2313201">
                <a:moveTo>
                  <a:pt x="0" y="0"/>
                </a:moveTo>
                <a:lnTo>
                  <a:pt x="2313201" y="0"/>
                </a:lnTo>
                <a:lnTo>
                  <a:pt x="2313201" y="2313201"/>
                </a:lnTo>
                <a:lnTo>
                  <a:pt x="0" y="2313201"/>
                </a:lnTo>
                <a:lnTo>
                  <a:pt x="0" y="0"/>
                </a:lnTo>
                <a:close/>
              </a:path>
            </a:pathLst>
          </a:custGeom>
          <a:blipFill>
            <a:blip r:embed="rId3"/>
            <a:stretch>
              <a:fillRect/>
            </a:stretch>
          </a:blipFill>
        </p:spPr>
        <p:txBody>
          <a:bodyPr/>
          <a:lstStyle/>
          <a:p>
            <a:endParaRPr lang="en-US"/>
          </a:p>
        </p:txBody>
      </p:sp>
      <p:sp>
        <p:nvSpPr>
          <p:cNvPr id="3" name="Freeform 3"/>
          <p:cNvSpPr/>
          <p:nvPr/>
        </p:nvSpPr>
        <p:spPr>
          <a:xfrm>
            <a:off x="-2122733" y="9258300"/>
            <a:ext cx="3457291" cy="3457291"/>
          </a:xfrm>
          <a:custGeom>
            <a:avLst/>
            <a:gdLst/>
            <a:ahLst/>
            <a:cxnLst/>
            <a:rect l="l" t="t" r="r" b="b"/>
            <a:pathLst>
              <a:path w="3457291" h="3457291">
                <a:moveTo>
                  <a:pt x="0" y="0"/>
                </a:moveTo>
                <a:lnTo>
                  <a:pt x="3457290" y="0"/>
                </a:lnTo>
                <a:lnTo>
                  <a:pt x="3457290" y="3457291"/>
                </a:lnTo>
                <a:lnTo>
                  <a:pt x="0" y="3457291"/>
                </a:lnTo>
                <a:lnTo>
                  <a:pt x="0" y="0"/>
                </a:lnTo>
                <a:close/>
              </a:path>
            </a:pathLst>
          </a:custGeom>
          <a:blipFill>
            <a:blip r:embed="rId3"/>
            <a:stretch>
              <a:fillRect/>
            </a:stretch>
          </a:blipFill>
        </p:spPr>
        <p:txBody>
          <a:bodyPr/>
          <a:lstStyle/>
          <a:p>
            <a:endParaRPr lang="en-US"/>
          </a:p>
        </p:txBody>
      </p:sp>
      <p:sp>
        <p:nvSpPr>
          <p:cNvPr id="4" name="Freeform 4"/>
          <p:cNvSpPr/>
          <p:nvPr/>
        </p:nvSpPr>
        <p:spPr>
          <a:xfrm>
            <a:off x="15255426" y="2459293"/>
            <a:ext cx="776370" cy="776370"/>
          </a:xfrm>
          <a:custGeom>
            <a:avLst/>
            <a:gdLst/>
            <a:ahLst/>
            <a:cxnLst/>
            <a:rect l="l" t="t" r="r" b="b"/>
            <a:pathLst>
              <a:path w="776370" h="776370">
                <a:moveTo>
                  <a:pt x="0" y="0"/>
                </a:moveTo>
                <a:lnTo>
                  <a:pt x="776369" y="0"/>
                </a:lnTo>
                <a:lnTo>
                  <a:pt x="776369" y="776370"/>
                </a:lnTo>
                <a:lnTo>
                  <a:pt x="0" y="7763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7053959" y="9048133"/>
            <a:ext cx="3070508" cy="3070508"/>
          </a:xfrm>
          <a:custGeom>
            <a:avLst/>
            <a:gdLst/>
            <a:ahLst/>
            <a:cxnLst/>
            <a:rect l="l" t="t" r="r" b="b"/>
            <a:pathLst>
              <a:path w="3070508" h="3070508">
                <a:moveTo>
                  <a:pt x="0" y="0"/>
                </a:moveTo>
                <a:lnTo>
                  <a:pt x="3070508" y="0"/>
                </a:lnTo>
                <a:lnTo>
                  <a:pt x="3070508" y="3070508"/>
                </a:lnTo>
                <a:lnTo>
                  <a:pt x="0" y="30705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0" y="0"/>
            <a:ext cx="18288000" cy="213007"/>
            <a:chOff x="0" y="0"/>
            <a:chExt cx="4816593" cy="56101"/>
          </a:xfrm>
        </p:grpSpPr>
        <p:sp>
          <p:nvSpPr>
            <p:cNvPr id="7" name="Freeform 7"/>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8" name="TextBox 8"/>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9" name="TextBox 9"/>
          <p:cNvSpPr txBox="1"/>
          <p:nvPr/>
        </p:nvSpPr>
        <p:spPr>
          <a:xfrm>
            <a:off x="1028700" y="902883"/>
            <a:ext cx="15782285" cy="1033785"/>
          </a:xfrm>
          <a:prstGeom prst="rect">
            <a:avLst/>
          </a:prstGeom>
        </p:spPr>
        <p:txBody>
          <a:bodyPr lIns="0" tIns="0" rIns="0" bIns="0" rtlCol="0" anchor="t">
            <a:spAutoFit/>
          </a:bodyPr>
          <a:lstStyle/>
          <a:p>
            <a:pPr algn="l">
              <a:lnSpc>
                <a:spcPts val="7760"/>
              </a:lnSpc>
            </a:pPr>
            <a:r>
              <a:rPr lang="en-US" sz="8000" spc="-80">
                <a:solidFill>
                  <a:srgbClr val="2657C1"/>
                </a:solidFill>
                <a:latin typeface="Etna Sans Serif"/>
                <a:ea typeface="Etna Sans Serif"/>
                <a:cs typeface="Etna Sans Serif"/>
                <a:sym typeface="Etna Sans Serif"/>
              </a:rPr>
              <a:t>Consequences of Phishing Attacks </a:t>
            </a:r>
          </a:p>
        </p:txBody>
      </p:sp>
      <p:sp>
        <p:nvSpPr>
          <p:cNvPr id="10" name="Freeform 10"/>
          <p:cNvSpPr/>
          <p:nvPr/>
        </p:nvSpPr>
        <p:spPr>
          <a:xfrm>
            <a:off x="1028700" y="3138522"/>
            <a:ext cx="611715" cy="618462"/>
          </a:xfrm>
          <a:custGeom>
            <a:avLst/>
            <a:gdLst/>
            <a:ahLst/>
            <a:cxnLst/>
            <a:rect l="l" t="t" r="r" b="b"/>
            <a:pathLst>
              <a:path w="611715" h="618462">
                <a:moveTo>
                  <a:pt x="0" y="0"/>
                </a:moveTo>
                <a:lnTo>
                  <a:pt x="611715" y="0"/>
                </a:lnTo>
                <a:lnTo>
                  <a:pt x="611715" y="618462"/>
                </a:lnTo>
                <a:lnTo>
                  <a:pt x="0" y="618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TextBox 11"/>
          <p:cNvSpPr txBox="1"/>
          <p:nvPr/>
        </p:nvSpPr>
        <p:spPr>
          <a:xfrm>
            <a:off x="1880918" y="3168988"/>
            <a:ext cx="3797061" cy="563881"/>
          </a:xfrm>
          <a:prstGeom prst="rect">
            <a:avLst/>
          </a:prstGeom>
        </p:spPr>
        <p:txBody>
          <a:bodyPr lIns="0" tIns="0" rIns="0" bIns="0" rtlCol="0" anchor="t">
            <a:spAutoFit/>
          </a:bodyPr>
          <a:lstStyle/>
          <a:p>
            <a:pPr marL="0" lvl="0" indent="0" algn="l">
              <a:lnSpc>
                <a:spcPts val="4619"/>
              </a:lnSpc>
              <a:spcBef>
                <a:spcPct val="0"/>
              </a:spcBef>
            </a:pPr>
            <a:r>
              <a:rPr lang="en-US" sz="3299" b="1">
                <a:solidFill>
                  <a:srgbClr val="5284FF"/>
                </a:solidFill>
                <a:latin typeface="TT Fors Bold"/>
                <a:ea typeface="TT Fors Bold"/>
                <a:cs typeface="TT Fors Bold"/>
                <a:sym typeface="TT Fors Bold"/>
              </a:rPr>
              <a:t>Financial Loss</a:t>
            </a:r>
          </a:p>
        </p:txBody>
      </p:sp>
      <p:sp>
        <p:nvSpPr>
          <p:cNvPr id="12" name="Freeform 12"/>
          <p:cNvSpPr/>
          <p:nvPr/>
        </p:nvSpPr>
        <p:spPr>
          <a:xfrm>
            <a:off x="1028700" y="6555229"/>
            <a:ext cx="611715" cy="618462"/>
          </a:xfrm>
          <a:custGeom>
            <a:avLst/>
            <a:gdLst/>
            <a:ahLst/>
            <a:cxnLst/>
            <a:rect l="l" t="t" r="r" b="b"/>
            <a:pathLst>
              <a:path w="611715" h="618462">
                <a:moveTo>
                  <a:pt x="0" y="0"/>
                </a:moveTo>
                <a:lnTo>
                  <a:pt x="611715" y="0"/>
                </a:lnTo>
                <a:lnTo>
                  <a:pt x="611715" y="618461"/>
                </a:lnTo>
                <a:lnTo>
                  <a:pt x="0" y="61846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TextBox 13"/>
          <p:cNvSpPr txBox="1"/>
          <p:nvPr/>
        </p:nvSpPr>
        <p:spPr>
          <a:xfrm>
            <a:off x="1880918" y="6585694"/>
            <a:ext cx="3523510"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Data Breaches</a:t>
            </a:r>
          </a:p>
        </p:txBody>
      </p:sp>
      <p:sp>
        <p:nvSpPr>
          <p:cNvPr id="14" name="TextBox 14"/>
          <p:cNvSpPr txBox="1"/>
          <p:nvPr/>
        </p:nvSpPr>
        <p:spPr>
          <a:xfrm>
            <a:off x="1028700" y="7355629"/>
            <a:ext cx="7887779" cy="2141220"/>
          </a:xfrm>
          <a:prstGeom prst="rect">
            <a:avLst/>
          </a:prstGeom>
        </p:spPr>
        <p:txBody>
          <a:bodyPr lIns="0" tIns="0" rIns="0" bIns="0" rtlCol="0" anchor="t">
            <a:spAutoFit/>
          </a:bodyPr>
          <a:lstStyle/>
          <a:p>
            <a:pPr algn="just">
              <a:lnSpc>
                <a:spcPts val="3569"/>
              </a:lnSpc>
            </a:pPr>
            <a:r>
              <a:rPr lang="en-US" sz="2550">
                <a:solidFill>
                  <a:srgbClr val="000000"/>
                </a:solidFill>
                <a:latin typeface="Comic Sans"/>
                <a:ea typeface="Comic Sans"/>
                <a:cs typeface="Comic Sans"/>
                <a:sym typeface="Comic Sans"/>
              </a:rPr>
              <a:t>Organizations may lose:</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Customer data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Employee records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Confidential information</a:t>
            </a:r>
          </a:p>
          <a:p>
            <a:pPr marL="0" lvl="0" indent="0" algn="just">
              <a:lnSpc>
                <a:spcPts val="2940"/>
              </a:lnSpc>
              <a:spcBef>
                <a:spcPct val="0"/>
              </a:spcBef>
            </a:pPr>
            <a:endParaRPr lang="en-US" sz="2550">
              <a:solidFill>
                <a:srgbClr val="000000"/>
              </a:solidFill>
              <a:latin typeface="Comic Sans"/>
              <a:ea typeface="Comic Sans"/>
              <a:cs typeface="Comic Sans"/>
              <a:sym typeface="Comic Sans"/>
            </a:endParaRPr>
          </a:p>
        </p:txBody>
      </p:sp>
      <p:sp>
        <p:nvSpPr>
          <p:cNvPr id="15" name="Freeform 15"/>
          <p:cNvSpPr/>
          <p:nvPr/>
        </p:nvSpPr>
        <p:spPr>
          <a:xfrm>
            <a:off x="9459404" y="3138522"/>
            <a:ext cx="611715" cy="618462"/>
          </a:xfrm>
          <a:custGeom>
            <a:avLst/>
            <a:gdLst/>
            <a:ahLst/>
            <a:cxnLst/>
            <a:rect l="l" t="t" r="r" b="b"/>
            <a:pathLst>
              <a:path w="611715" h="618462">
                <a:moveTo>
                  <a:pt x="0" y="0"/>
                </a:moveTo>
                <a:lnTo>
                  <a:pt x="611715" y="0"/>
                </a:lnTo>
                <a:lnTo>
                  <a:pt x="611715" y="618462"/>
                </a:lnTo>
                <a:lnTo>
                  <a:pt x="0" y="61846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TextBox 16"/>
          <p:cNvSpPr txBox="1"/>
          <p:nvPr/>
        </p:nvSpPr>
        <p:spPr>
          <a:xfrm>
            <a:off x="10311622" y="3168988"/>
            <a:ext cx="3502701"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Identity Theft </a:t>
            </a:r>
          </a:p>
        </p:txBody>
      </p:sp>
      <p:sp>
        <p:nvSpPr>
          <p:cNvPr id="17" name="Freeform 17"/>
          <p:cNvSpPr/>
          <p:nvPr/>
        </p:nvSpPr>
        <p:spPr>
          <a:xfrm>
            <a:off x="9459404" y="6555229"/>
            <a:ext cx="611715" cy="618462"/>
          </a:xfrm>
          <a:custGeom>
            <a:avLst/>
            <a:gdLst/>
            <a:ahLst/>
            <a:cxnLst/>
            <a:rect l="l" t="t" r="r" b="b"/>
            <a:pathLst>
              <a:path w="611715" h="618462">
                <a:moveTo>
                  <a:pt x="0" y="0"/>
                </a:moveTo>
                <a:lnTo>
                  <a:pt x="611715" y="0"/>
                </a:lnTo>
                <a:lnTo>
                  <a:pt x="611715" y="618461"/>
                </a:lnTo>
                <a:lnTo>
                  <a:pt x="0" y="61846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8" name="TextBox 18"/>
          <p:cNvSpPr txBox="1"/>
          <p:nvPr/>
        </p:nvSpPr>
        <p:spPr>
          <a:xfrm>
            <a:off x="10311622" y="6585694"/>
            <a:ext cx="4552856" cy="563880"/>
          </a:xfrm>
          <a:prstGeom prst="rect">
            <a:avLst/>
          </a:prstGeom>
        </p:spPr>
        <p:txBody>
          <a:bodyPr lIns="0" tIns="0" rIns="0" bIns="0" rtlCol="0" anchor="t">
            <a:spAutoFit/>
          </a:bodyPr>
          <a:lstStyle/>
          <a:p>
            <a:pPr marL="0" lvl="0" indent="0" algn="l">
              <a:lnSpc>
                <a:spcPts val="4620"/>
              </a:lnSpc>
              <a:spcBef>
                <a:spcPct val="0"/>
              </a:spcBef>
            </a:pPr>
            <a:r>
              <a:rPr lang="en-US" sz="3300" b="1">
                <a:solidFill>
                  <a:srgbClr val="5284FF"/>
                </a:solidFill>
                <a:latin typeface="TT Fors Bold"/>
                <a:ea typeface="TT Fors Bold"/>
                <a:cs typeface="TT Fors Bold"/>
                <a:sym typeface="TT Fors Bold"/>
              </a:rPr>
              <a:t>Malware Infections</a:t>
            </a:r>
          </a:p>
        </p:txBody>
      </p:sp>
      <p:sp>
        <p:nvSpPr>
          <p:cNvPr id="19" name="TextBox 19"/>
          <p:cNvSpPr txBox="1"/>
          <p:nvPr/>
        </p:nvSpPr>
        <p:spPr>
          <a:xfrm>
            <a:off x="9459404" y="7355629"/>
            <a:ext cx="7887779" cy="1764030"/>
          </a:xfrm>
          <a:prstGeom prst="rect">
            <a:avLst/>
          </a:prstGeom>
        </p:spPr>
        <p:txBody>
          <a:bodyPr lIns="0" tIns="0" rIns="0" bIns="0" rtlCol="0" anchor="t">
            <a:spAutoFit/>
          </a:bodyPr>
          <a:lstStyle/>
          <a:p>
            <a:pPr algn="just">
              <a:lnSpc>
                <a:spcPts val="3569"/>
              </a:lnSpc>
            </a:pPr>
            <a:r>
              <a:rPr lang="en-US" sz="2550">
                <a:solidFill>
                  <a:srgbClr val="000000"/>
                </a:solidFill>
                <a:latin typeface="Comic Sans"/>
                <a:ea typeface="Comic Sans"/>
                <a:cs typeface="Comic Sans"/>
                <a:sym typeface="Comic Sans"/>
              </a:rPr>
              <a:t>Phishing emails may install:</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Viruses</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Ransomware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Spyware</a:t>
            </a:r>
          </a:p>
        </p:txBody>
      </p:sp>
      <p:sp>
        <p:nvSpPr>
          <p:cNvPr id="20" name="TextBox 20"/>
          <p:cNvSpPr txBox="1"/>
          <p:nvPr/>
        </p:nvSpPr>
        <p:spPr>
          <a:xfrm>
            <a:off x="1028700" y="3876281"/>
            <a:ext cx="6776815" cy="1316321"/>
          </a:xfrm>
          <a:prstGeom prst="rect">
            <a:avLst/>
          </a:prstGeom>
        </p:spPr>
        <p:txBody>
          <a:bodyPr lIns="0" tIns="0" rIns="0" bIns="0" rtlCol="0" anchor="t">
            <a:spAutoFit/>
          </a:bodyPr>
          <a:lstStyle/>
          <a:p>
            <a:pPr algn="l">
              <a:lnSpc>
                <a:spcPts val="3571"/>
              </a:lnSpc>
            </a:pPr>
            <a:r>
              <a:rPr lang="en-US" sz="2551">
                <a:solidFill>
                  <a:srgbClr val="000000"/>
                </a:solidFill>
                <a:latin typeface="Comic Sans"/>
                <a:ea typeface="Comic Sans"/>
                <a:cs typeface="Comic Sans"/>
                <a:sym typeface="Comic Sans"/>
              </a:rPr>
              <a:t>Stolen bank information </a:t>
            </a:r>
          </a:p>
          <a:p>
            <a:pPr algn="l">
              <a:lnSpc>
                <a:spcPts val="3571"/>
              </a:lnSpc>
            </a:pPr>
            <a:endParaRPr lang="en-US" sz="2551">
              <a:solidFill>
                <a:srgbClr val="000000"/>
              </a:solidFill>
              <a:latin typeface="Comic Sans"/>
              <a:ea typeface="Comic Sans"/>
              <a:cs typeface="Comic Sans"/>
              <a:sym typeface="Comic Sans"/>
            </a:endParaRPr>
          </a:p>
          <a:p>
            <a:pPr algn="l">
              <a:lnSpc>
                <a:spcPts val="3571"/>
              </a:lnSpc>
              <a:spcBef>
                <a:spcPct val="0"/>
              </a:spcBef>
            </a:pPr>
            <a:r>
              <a:rPr lang="en-US" sz="2551">
                <a:solidFill>
                  <a:srgbClr val="000000"/>
                </a:solidFill>
                <a:latin typeface="Comic Sans"/>
                <a:ea typeface="Comic Sans"/>
                <a:cs typeface="Comic Sans"/>
                <a:sym typeface="Comic Sans"/>
              </a:rPr>
              <a:t>Unauthorized purchases </a:t>
            </a:r>
          </a:p>
        </p:txBody>
      </p:sp>
      <p:sp>
        <p:nvSpPr>
          <p:cNvPr id="21" name="TextBox 21"/>
          <p:cNvSpPr txBox="1"/>
          <p:nvPr/>
        </p:nvSpPr>
        <p:spPr>
          <a:xfrm>
            <a:off x="9085808" y="3854356"/>
            <a:ext cx="9124752" cy="1764030"/>
          </a:xfrm>
          <a:prstGeom prst="rect">
            <a:avLst/>
          </a:prstGeom>
        </p:spPr>
        <p:txBody>
          <a:bodyPr lIns="0" tIns="0" rIns="0" bIns="0" rtlCol="0" anchor="t">
            <a:spAutoFit/>
          </a:bodyPr>
          <a:lstStyle/>
          <a:p>
            <a:pPr algn="l">
              <a:lnSpc>
                <a:spcPts val="3569"/>
              </a:lnSpc>
            </a:pPr>
            <a:r>
              <a:rPr lang="en-US" sz="2550">
                <a:solidFill>
                  <a:srgbClr val="000000"/>
                </a:solidFill>
                <a:latin typeface="Comic Sans"/>
                <a:ea typeface="Comic Sans"/>
                <a:cs typeface="Comic Sans"/>
                <a:sym typeface="Comic Sans"/>
              </a:rPr>
              <a:t>Attackers may: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Open accounts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Steal personal records </a:t>
            </a:r>
          </a:p>
          <a:p>
            <a:pPr marL="550545" lvl="1" indent="-275272" algn="l">
              <a:lnSpc>
                <a:spcPts val="3569"/>
              </a:lnSpc>
              <a:buFont typeface="Arial"/>
              <a:buChar char="•"/>
            </a:pPr>
            <a:r>
              <a:rPr lang="en-US" sz="2550">
                <a:solidFill>
                  <a:srgbClr val="000000"/>
                </a:solidFill>
                <a:latin typeface="Comic Sans"/>
                <a:ea typeface="Comic Sans"/>
                <a:cs typeface="Comic Sans"/>
                <a:sym typeface="Comic Sans"/>
              </a:rPr>
              <a:t>Commit fraud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1793"/>
            <a:ext cx="18288000" cy="10292469"/>
          </a:xfrm>
          <a:custGeom>
            <a:avLst/>
            <a:gdLst/>
            <a:ahLst/>
            <a:cxnLst/>
            <a:rect l="l" t="t" r="r" b="b"/>
            <a:pathLst>
              <a:path w="18288000" h="10292469">
                <a:moveTo>
                  <a:pt x="0" y="0"/>
                </a:moveTo>
                <a:lnTo>
                  <a:pt x="18288000" y="0"/>
                </a:lnTo>
                <a:lnTo>
                  <a:pt x="18288000" y="10292468"/>
                </a:lnTo>
                <a:lnTo>
                  <a:pt x="0" y="10292468"/>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259300" y="1170833"/>
            <a:ext cx="1765318" cy="1765318"/>
          </a:xfrm>
          <a:custGeom>
            <a:avLst/>
            <a:gdLst/>
            <a:ahLst/>
            <a:cxnLst/>
            <a:rect l="l" t="t" r="r" b="b"/>
            <a:pathLst>
              <a:path w="1765318" h="1765318">
                <a:moveTo>
                  <a:pt x="0" y="0"/>
                </a:moveTo>
                <a:lnTo>
                  <a:pt x="1765318" y="0"/>
                </a:lnTo>
                <a:lnTo>
                  <a:pt x="1765318" y="1765318"/>
                </a:lnTo>
                <a:lnTo>
                  <a:pt x="0" y="1765318"/>
                </a:lnTo>
                <a:lnTo>
                  <a:pt x="0" y="0"/>
                </a:lnTo>
                <a:close/>
              </a:path>
            </a:pathLst>
          </a:custGeom>
          <a:blipFill>
            <a:blip r:embed="rId3"/>
            <a:stretch>
              <a:fillRect/>
            </a:stretch>
          </a:blipFill>
        </p:spPr>
        <p:txBody>
          <a:bodyPr/>
          <a:lstStyle/>
          <a:p>
            <a:endParaRPr lang="en-US"/>
          </a:p>
        </p:txBody>
      </p:sp>
      <p:sp>
        <p:nvSpPr>
          <p:cNvPr id="3" name="Freeform 3"/>
          <p:cNvSpPr/>
          <p:nvPr/>
        </p:nvSpPr>
        <p:spPr>
          <a:xfrm>
            <a:off x="16053186" y="8908955"/>
            <a:ext cx="3369168" cy="3369168"/>
          </a:xfrm>
          <a:custGeom>
            <a:avLst/>
            <a:gdLst/>
            <a:ahLst/>
            <a:cxnLst/>
            <a:rect l="l" t="t" r="r" b="b"/>
            <a:pathLst>
              <a:path w="3369168" h="3369168">
                <a:moveTo>
                  <a:pt x="0" y="0"/>
                </a:moveTo>
                <a:lnTo>
                  <a:pt x="3369168" y="0"/>
                </a:lnTo>
                <a:lnTo>
                  <a:pt x="3369168" y="3369168"/>
                </a:lnTo>
                <a:lnTo>
                  <a:pt x="0" y="33691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0" y="0"/>
            <a:ext cx="18288000" cy="213007"/>
            <a:chOff x="0" y="0"/>
            <a:chExt cx="4816593" cy="56101"/>
          </a:xfrm>
        </p:grpSpPr>
        <p:sp>
          <p:nvSpPr>
            <p:cNvPr id="5" name="Freeform 5"/>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6" name="TextBox 6"/>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7" name="Freeform 7"/>
          <p:cNvSpPr/>
          <p:nvPr/>
        </p:nvSpPr>
        <p:spPr>
          <a:xfrm>
            <a:off x="12120762" y="3137842"/>
            <a:ext cx="6167238" cy="4687101"/>
          </a:xfrm>
          <a:custGeom>
            <a:avLst/>
            <a:gdLst/>
            <a:ahLst/>
            <a:cxnLst/>
            <a:rect l="l" t="t" r="r" b="b"/>
            <a:pathLst>
              <a:path w="6167238" h="4687101">
                <a:moveTo>
                  <a:pt x="0" y="0"/>
                </a:moveTo>
                <a:lnTo>
                  <a:pt x="6167238" y="0"/>
                </a:lnTo>
                <a:lnTo>
                  <a:pt x="6167238" y="4687101"/>
                </a:lnTo>
                <a:lnTo>
                  <a:pt x="0" y="46871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507306" y="637062"/>
            <a:ext cx="15751333" cy="1416768"/>
          </a:xfrm>
          <a:prstGeom prst="rect">
            <a:avLst/>
          </a:prstGeom>
        </p:spPr>
        <p:txBody>
          <a:bodyPr lIns="0" tIns="0" rIns="0" bIns="0" rtlCol="0" anchor="t">
            <a:spAutoFit/>
          </a:bodyPr>
          <a:lstStyle/>
          <a:p>
            <a:pPr algn="l">
              <a:lnSpc>
                <a:spcPts val="10595"/>
              </a:lnSpc>
            </a:pPr>
            <a:r>
              <a:rPr lang="en-US" sz="10922" spc="-109">
                <a:solidFill>
                  <a:srgbClr val="2657C1"/>
                </a:solidFill>
                <a:latin typeface="Etna Sans Serif"/>
                <a:ea typeface="Etna Sans Serif"/>
                <a:cs typeface="Etna Sans Serif"/>
                <a:sym typeface="Etna Sans Serif"/>
              </a:rPr>
              <a:t>How to Protect Yourself</a:t>
            </a:r>
          </a:p>
        </p:txBody>
      </p:sp>
      <p:sp>
        <p:nvSpPr>
          <p:cNvPr id="9" name="TextBox 9"/>
          <p:cNvSpPr txBox="1"/>
          <p:nvPr/>
        </p:nvSpPr>
        <p:spPr>
          <a:xfrm>
            <a:off x="507306" y="2049056"/>
            <a:ext cx="12893363" cy="887095"/>
          </a:xfrm>
          <a:prstGeom prst="rect">
            <a:avLst/>
          </a:prstGeom>
        </p:spPr>
        <p:txBody>
          <a:bodyPr lIns="0" tIns="0" rIns="0" bIns="0" rtlCol="0" anchor="t">
            <a:spAutoFit/>
          </a:bodyPr>
          <a:lstStyle/>
          <a:p>
            <a:pPr algn="ctr">
              <a:lnSpc>
                <a:spcPts val="7279"/>
              </a:lnSpc>
            </a:pPr>
            <a:r>
              <a:rPr lang="en-US" sz="5199" b="1">
                <a:solidFill>
                  <a:srgbClr val="D75640"/>
                </a:solidFill>
                <a:latin typeface="Canva Sans Bold"/>
                <a:ea typeface="Canva Sans Bold"/>
                <a:cs typeface="Canva Sans Bold"/>
                <a:sym typeface="Canva Sans Bold"/>
              </a:rPr>
              <a:t>Best Practices for Phishing Prevention</a:t>
            </a:r>
          </a:p>
        </p:txBody>
      </p:sp>
      <p:sp>
        <p:nvSpPr>
          <p:cNvPr id="10" name="TextBox 10"/>
          <p:cNvSpPr txBox="1"/>
          <p:nvPr/>
        </p:nvSpPr>
        <p:spPr>
          <a:xfrm>
            <a:off x="79738" y="3621537"/>
            <a:ext cx="12457632" cy="6271206"/>
          </a:xfrm>
          <a:prstGeom prst="rect">
            <a:avLst/>
          </a:prstGeom>
        </p:spPr>
        <p:txBody>
          <a:bodyPr lIns="0" tIns="0" rIns="0" bIns="0" rtlCol="0" anchor="t">
            <a:spAutoFit/>
          </a:bodyPr>
          <a:lstStyle/>
          <a:p>
            <a:pPr algn="l">
              <a:lnSpc>
                <a:spcPts val="4517"/>
              </a:lnSpc>
            </a:pPr>
            <a:r>
              <a:rPr lang="en-US" sz="3227" b="1" i="1">
                <a:solidFill>
                  <a:srgbClr val="000000"/>
                </a:solidFill>
                <a:latin typeface="Comic Sans Bold Italics"/>
                <a:ea typeface="Comic Sans Bold Italics"/>
                <a:cs typeface="Comic Sans Bold Italics"/>
                <a:sym typeface="Comic Sans Bold Italics"/>
              </a:rPr>
              <a:t>1- Verify Sender Identity:</a:t>
            </a:r>
            <a:r>
              <a:rPr lang="en-US" sz="3227">
                <a:solidFill>
                  <a:srgbClr val="000000"/>
                </a:solidFill>
                <a:latin typeface="Comic Sans"/>
                <a:ea typeface="Comic Sans"/>
                <a:cs typeface="Comic Sans"/>
                <a:sym typeface="Comic Sans"/>
              </a:rPr>
              <a:t> always double-check email addresses</a:t>
            </a:r>
          </a:p>
          <a:p>
            <a:pPr algn="l">
              <a:lnSpc>
                <a:spcPts val="4517"/>
              </a:lnSpc>
            </a:pPr>
            <a:r>
              <a:rPr lang="en-US" sz="3227" b="1" i="1">
                <a:solidFill>
                  <a:srgbClr val="000000"/>
                </a:solidFill>
                <a:latin typeface="Comic Sans Bold Italics"/>
                <a:ea typeface="Comic Sans Bold Italics"/>
                <a:cs typeface="Comic Sans Bold Italics"/>
                <a:sym typeface="Comic Sans Bold Italics"/>
              </a:rPr>
              <a:t>2- Avoid Clicking Unknown Links:</a:t>
            </a:r>
            <a:r>
              <a:rPr lang="en-US" sz="3227">
                <a:solidFill>
                  <a:srgbClr val="000000"/>
                </a:solidFill>
                <a:latin typeface="Comic Sans"/>
                <a:ea typeface="Comic Sans"/>
                <a:cs typeface="Comic Sans"/>
                <a:sym typeface="Comic Sans"/>
              </a:rPr>
              <a:t> type official websites manually if unsure</a:t>
            </a:r>
          </a:p>
          <a:p>
            <a:pPr algn="l">
              <a:lnSpc>
                <a:spcPts val="4517"/>
              </a:lnSpc>
            </a:pPr>
            <a:r>
              <a:rPr lang="en-US" sz="3227" b="1" i="1">
                <a:solidFill>
                  <a:srgbClr val="000000"/>
                </a:solidFill>
                <a:latin typeface="Comic Sans Bold Italics"/>
                <a:ea typeface="Comic Sans Bold Italics"/>
                <a:cs typeface="Comic Sans Bold Italics"/>
                <a:sym typeface="Comic Sans Bold Italics"/>
              </a:rPr>
              <a:t>3- Enable Multi-Factor Authentication</a:t>
            </a:r>
            <a:r>
              <a:rPr lang="en-US" sz="3227" b="1">
                <a:solidFill>
                  <a:srgbClr val="000000"/>
                </a:solidFill>
                <a:latin typeface="Comic Sans Bold"/>
                <a:ea typeface="Comic Sans Bold"/>
                <a:cs typeface="Comic Sans Bold"/>
                <a:sym typeface="Comic Sans Bold"/>
              </a:rPr>
              <a:t>:</a:t>
            </a:r>
            <a:r>
              <a:rPr lang="en-US" sz="3227">
                <a:solidFill>
                  <a:srgbClr val="000000"/>
                </a:solidFill>
                <a:latin typeface="Comic Sans"/>
                <a:ea typeface="Comic Sans"/>
                <a:cs typeface="Comic Sans"/>
                <a:sym typeface="Comic Sans"/>
              </a:rPr>
              <a:t> adds additional account protection </a:t>
            </a:r>
          </a:p>
          <a:p>
            <a:pPr algn="l">
              <a:lnSpc>
                <a:spcPts val="4517"/>
              </a:lnSpc>
            </a:pPr>
            <a:r>
              <a:rPr lang="en-US" sz="3227" b="1" i="1">
                <a:solidFill>
                  <a:srgbClr val="000000"/>
                </a:solidFill>
                <a:latin typeface="Comic Sans Bold Italics"/>
                <a:ea typeface="Comic Sans Bold Italics"/>
                <a:cs typeface="Comic Sans Bold Italics"/>
                <a:sym typeface="Comic Sans Bold Italics"/>
              </a:rPr>
              <a:t>4- Use Strong Passwords:</a:t>
            </a:r>
            <a:r>
              <a:rPr lang="en-US" sz="3227">
                <a:solidFill>
                  <a:srgbClr val="000000"/>
                </a:solidFill>
                <a:latin typeface="Comic Sans"/>
                <a:ea typeface="Comic Sans"/>
                <a:cs typeface="Comic Sans"/>
                <a:sym typeface="Comic Sans"/>
              </a:rPr>
              <a:t> unique passwords and password managers are recommended </a:t>
            </a:r>
          </a:p>
          <a:p>
            <a:pPr algn="l">
              <a:lnSpc>
                <a:spcPts val="4517"/>
              </a:lnSpc>
            </a:pPr>
            <a:r>
              <a:rPr lang="en-US" sz="3227" b="1" i="1">
                <a:solidFill>
                  <a:srgbClr val="000000"/>
                </a:solidFill>
                <a:latin typeface="Comic Sans Bold Italics"/>
                <a:ea typeface="Comic Sans Bold Italics"/>
                <a:cs typeface="Comic Sans Bold Italics"/>
                <a:sym typeface="Comic Sans Bold Italics"/>
              </a:rPr>
              <a:t>5- Keep Software Updated:</a:t>
            </a:r>
            <a:r>
              <a:rPr lang="en-US" sz="3227">
                <a:solidFill>
                  <a:srgbClr val="000000"/>
                </a:solidFill>
                <a:latin typeface="Comic Sans"/>
                <a:ea typeface="Comic Sans"/>
                <a:cs typeface="Comic Sans"/>
                <a:sym typeface="Comic Sans"/>
              </a:rPr>
              <a:t> updates fix security vulnerabilities </a:t>
            </a:r>
          </a:p>
          <a:p>
            <a:pPr algn="l">
              <a:lnSpc>
                <a:spcPts val="4517"/>
              </a:lnSpc>
              <a:spcBef>
                <a:spcPct val="0"/>
              </a:spcBef>
            </a:pPr>
            <a:r>
              <a:rPr lang="en-US" sz="3227" b="1" i="1">
                <a:solidFill>
                  <a:srgbClr val="000000"/>
                </a:solidFill>
                <a:latin typeface="Comic Sans Bold Italics"/>
                <a:ea typeface="Comic Sans Bold Italics"/>
                <a:cs typeface="Comic Sans Bold Italics"/>
                <a:sym typeface="Comic Sans Bold Italics"/>
              </a:rPr>
              <a:t>6- Report Suspicious Emails:</a:t>
            </a:r>
            <a:r>
              <a:rPr lang="en-US" sz="3227">
                <a:solidFill>
                  <a:srgbClr val="000000"/>
                </a:solidFill>
                <a:latin typeface="Comic Sans"/>
                <a:ea typeface="Comic Sans"/>
                <a:cs typeface="Comic Sans"/>
                <a:sym typeface="Comic Sans"/>
              </a:rPr>
              <a:t> forwards suspicious messages to IT departments or email providers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818836" y="574832"/>
            <a:ext cx="2205782" cy="2205782"/>
          </a:xfrm>
          <a:custGeom>
            <a:avLst/>
            <a:gdLst/>
            <a:ahLst/>
            <a:cxnLst/>
            <a:rect l="l" t="t" r="r" b="b"/>
            <a:pathLst>
              <a:path w="2205782" h="2205782">
                <a:moveTo>
                  <a:pt x="0" y="0"/>
                </a:moveTo>
                <a:lnTo>
                  <a:pt x="2205782" y="0"/>
                </a:lnTo>
                <a:lnTo>
                  <a:pt x="2205782" y="2205782"/>
                </a:lnTo>
                <a:lnTo>
                  <a:pt x="0" y="2205782"/>
                </a:lnTo>
                <a:lnTo>
                  <a:pt x="0" y="0"/>
                </a:lnTo>
                <a:close/>
              </a:path>
            </a:pathLst>
          </a:custGeom>
          <a:blipFill>
            <a:blip r:embed="rId3"/>
            <a:stretch>
              <a:fillRect/>
            </a:stretch>
          </a:blipFill>
        </p:spPr>
        <p:txBody>
          <a:bodyPr/>
          <a:lstStyle/>
          <a:p>
            <a:endParaRPr lang="en-US"/>
          </a:p>
        </p:txBody>
      </p:sp>
      <p:sp>
        <p:nvSpPr>
          <p:cNvPr id="3" name="Freeform 3"/>
          <p:cNvSpPr/>
          <p:nvPr/>
        </p:nvSpPr>
        <p:spPr>
          <a:xfrm>
            <a:off x="-1042994" y="8593656"/>
            <a:ext cx="2967217" cy="2967217"/>
          </a:xfrm>
          <a:custGeom>
            <a:avLst/>
            <a:gdLst/>
            <a:ahLst/>
            <a:cxnLst/>
            <a:rect l="l" t="t" r="r" b="b"/>
            <a:pathLst>
              <a:path w="2967217" h="2967217">
                <a:moveTo>
                  <a:pt x="0" y="0"/>
                </a:moveTo>
                <a:lnTo>
                  <a:pt x="2967217" y="0"/>
                </a:lnTo>
                <a:lnTo>
                  <a:pt x="2967217" y="2967217"/>
                </a:lnTo>
                <a:lnTo>
                  <a:pt x="0" y="2967217"/>
                </a:lnTo>
                <a:lnTo>
                  <a:pt x="0" y="0"/>
                </a:lnTo>
                <a:close/>
              </a:path>
            </a:pathLst>
          </a:custGeom>
          <a:blipFill>
            <a:blip r:embed="rId3"/>
            <a:stretch>
              <a:fillRect/>
            </a:stretch>
          </a:blipFill>
        </p:spPr>
        <p:txBody>
          <a:bodyPr/>
          <a:lstStyle/>
          <a:p>
            <a:endParaRPr lang="en-US"/>
          </a:p>
        </p:txBody>
      </p:sp>
      <p:sp>
        <p:nvSpPr>
          <p:cNvPr id="4" name="Freeform 4"/>
          <p:cNvSpPr/>
          <p:nvPr/>
        </p:nvSpPr>
        <p:spPr>
          <a:xfrm>
            <a:off x="15655450" y="8392681"/>
            <a:ext cx="3369168" cy="3369168"/>
          </a:xfrm>
          <a:custGeom>
            <a:avLst/>
            <a:gdLst/>
            <a:ahLst/>
            <a:cxnLst/>
            <a:rect l="l" t="t" r="r" b="b"/>
            <a:pathLst>
              <a:path w="3369168" h="3369168">
                <a:moveTo>
                  <a:pt x="0" y="0"/>
                </a:moveTo>
                <a:lnTo>
                  <a:pt x="3369168" y="0"/>
                </a:lnTo>
                <a:lnTo>
                  <a:pt x="3369168" y="3369168"/>
                </a:lnTo>
                <a:lnTo>
                  <a:pt x="0" y="33691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0" y="0"/>
            <a:ext cx="18288000" cy="213007"/>
            <a:chOff x="0" y="0"/>
            <a:chExt cx="4816593" cy="56101"/>
          </a:xfrm>
        </p:grpSpPr>
        <p:sp>
          <p:nvSpPr>
            <p:cNvPr id="6" name="Freeform 6"/>
            <p:cNvSpPr/>
            <p:nvPr/>
          </p:nvSpPr>
          <p:spPr>
            <a:xfrm>
              <a:off x="0" y="0"/>
              <a:ext cx="4816592" cy="56101"/>
            </a:xfrm>
            <a:custGeom>
              <a:avLst/>
              <a:gdLst/>
              <a:ahLst/>
              <a:cxnLst/>
              <a:rect l="l" t="t" r="r" b="b"/>
              <a:pathLst>
                <a:path w="4816592" h="56101">
                  <a:moveTo>
                    <a:pt x="0" y="0"/>
                  </a:moveTo>
                  <a:lnTo>
                    <a:pt x="4816592" y="0"/>
                  </a:lnTo>
                  <a:lnTo>
                    <a:pt x="4816592" y="56101"/>
                  </a:lnTo>
                  <a:lnTo>
                    <a:pt x="0" y="56101"/>
                  </a:lnTo>
                  <a:close/>
                </a:path>
              </a:pathLst>
            </a:custGeom>
            <a:solidFill>
              <a:srgbClr val="182D88"/>
            </a:solidFill>
          </p:spPr>
          <p:txBody>
            <a:bodyPr/>
            <a:lstStyle/>
            <a:p>
              <a:endParaRPr lang="en-US"/>
            </a:p>
          </p:txBody>
        </p:sp>
        <p:sp>
          <p:nvSpPr>
            <p:cNvPr id="7" name="TextBox 7"/>
            <p:cNvSpPr txBox="1"/>
            <p:nvPr/>
          </p:nvSpPr>
          <p:spPr>
            <a:xfrm>
              <a:off x="0" y="-47625"/>
              <a:ext cx="4816593" cy="103726"/>
            </a:xfrm>
            <a:prstGeom prst="rect">
              <a:avLst/>
            </a:prstGeom>
          </p:spPr>
          <p:txBody>
            <a:bodyPr lIns="50800" tIns="50800" rIns="50800" bIns="50800" rtlCol="0" anchor="ctr"/>
            <a:lstStyle/>
            <a:p>
              <a:pPr algn="ctr">
                <a:lnSpc>
                  <a:spcPts val="3151"/>
                </a:lnSpc>
              </a:pPr>
              <a:endParaRPr/>
            </a:p>
          </p:txBody>
        </p:sp>
      </p:grpSp>
      <p:sp>
        <p:nvSpPr>
          <p:cNvPr id="8" name="TextBox 8"/>
          <p:cNvSpPr txBox="1"/>
          <p:nvPr/>
        </p:nvSpPr>
        <p:spPr>
          <a:xfrm>
            <a:off x="611175" y="7165526"/>
            <a:ext cx="6017223" cy="1147825"/>
          </a:xfrm>
          <a:prstGeom prst="rect">
            <a:avLst/>
          </a:prstGeom>
        </p:spPr>
        <p:txBody>
          <a:bodyPr lIns="0" tIns="0" rIns="0" bIns="0" rtlCol="0" anchor="t">
            <a:spAutoFit/>
          </a:bodyPr>
          <a:lstStyle/>
          <a:p>
            <a:pPr algn="l">
              <a:lnSpc>
                <a:spcPts val="8519"/>
              </a:lnSpc>
            </a:pPr>
            <a:r>
              <a:rPr lang="en-US" sz="8782" spc="-87">
                <a:solidFill>
                  <a:srgbClr val="2657C1"/>
                </a:solidFill>
                <a:latin typeface="Etna Sans Serif"/>
                <a:ea typeface="Etna Sans Serif"/>
                <a:cs typeface="Etna Sans Serif"/>
                <a:sym typeface="Etna Sans Serif"/>
              </a:rPr>
              <a:t>Conclusion</a:t>
            </a:r>
          </a:p>
        </p:txBody>
      </p:sp>
      <p:sp>
        <p:nvSpPr>
          <p:cNvPr id="9" name="TextBox 9"/>
          <p:cNvSpPr txBox="1"/>
          <p:nvPr/>
        </p:nvSpPr>
        <p:spPr>
          <a:xfrm>
            <a:off x="6628398" y="5534025"/>
            <a:ext cx="12153385" cy="4163177"/>
          </a:xfrm>
          <a:prstGeom prst="rect">
            <a:avLst/>
          </a:prstGeom>
        </p:spPr>
        <p:txBody>
          <a:bodyPr lIns="0" tIns="0" rIns="0" bIns="0" rtlCol="0" anchor="t">
            <a:spAutoFit/>
          </a:bodyPr>
          <a:lstStyle/>
          <a:p>
            <a:pPr algn="just">
              <a:lnSpc>
                <a:spcPts val="3762"/>
              </a:lnSpc>
            </a:pPr>
            <a:r>
              <a:rPr lang="en-US" sz="2687" b="1">
                <a:solidFill>
                  <a:srgbClr val="182D88"/>
                </a:solidFill>
                <a:latin typeface="Comic Sans Bold"/>
                <a:ea typeface="Comic Sans Bold"/>
                <a:cs typeface="Comic Sans Bold"/>
                <a:sym typeface="Comic Sans Bold"/>
              </a:rPr>
              <a:t>Key Takeaways</a:t>
            </a:r>
          </a:p>
          <a:p>
            <a:pPr marL="580174" lvl="1" indent="-290087" algn="just">
              <a:lnSpc>
                <a:spcPts val="3762"/>
              </a:lnSpc>
              <a:buFont typeface="Arial"/>
              <a:buChar char="•"/>
            </a:pPr>
            <a:r>
              <a:rPr lang="en-US" sz="2687" b="1">
                <a:solidFill>
                  <a:srgbClr val="182D88"/>
                </a:solidFill>
                <a:latin typeface="Comic Sans Bold"/>
                <a:ea typeface="Comic Sans Bold"/>
                <a:cs typeface="Comic Sans Bold"/>
                <a:sym typeface="Comic Sans Bold"/>
              </a:rPr>
              <a:t>Phishing attacks target human behavior.</a:t>
            </a:r>
          </a:p>
          <a:p>
            <a:pPr marL="580174" lvl="1" indent="-290087" algn="just">
              <a:lnSpc>
                <a:spcPts val="3762"/>
              </a:lnSpc>
              <a:buFont typeface="Arial"/>
              <a:buChar char="•"/>
            </a:pPr>
            <a:r>
              <a:rPr lang="en-US" sz="2687" b="1">
                <a:solidFill>
                  <a:srgbClr val="182D88"/>
                </a:solidFill>
                <a:latin typeface="Comic Sans Bold"/>
                <a:ea typeface="Comic Sans Bold"/>
                <a:cs typeface="Comic Sans Bold"/>
                <a:sym typeface="Comic Sans Bold"/>
              </a:rPr>
              <a:t>Attackers use deception and urgency.</a:t>
            </a:r>
          </a:p>
          <a:p>
            <a:pPr marL="580174" lvl="1" indent="-290087" algn="just">
              <a:lnSpc>
                <a:spcPts val="3762"/>
              </a:lnSpc>
              <a:buFont typeface="Arial"/>
              <a:buChar char="•"/>
            </a:pPr>
            <a:r>
              <a:rPr lang="en-US" sz="2687" b="1">
                <a:solidFill>
                  <a:srgbClr val="182D88"/>
                </a:solidFill>
                <a:latin typeface="Comic Sans Bold"/>
                <a:ea typeface="Comic Sans Bold"/>
                <a:cs typeface="Comic Sans Bold"/>
                <a:sym typeface="Comic Sans Bold"/>
              </a:rPr>
              <a:t>Users should carefully inspect emails and websites.</a:t>
            </a:r>
          </a:p>
          <a:p>
            <a:pPr marL="580174" lvl="1" indent="-290087" algn="just">
              <a:lnSpc>
                <a:spcPts val="3762"/>
              </a:lnSpc>
              <a:buFont typeface="Arial"/>
              <a:buChar char="•"/>
            </a:pPr>
            <a:r>
              <a:rPr lang="en-US" sz="2687" b="1">
                <a:solidFill>
                  <a:srgbClr val="182D88"/>
                </a:solidFill>
                <a:latin typeface="Comic Sans Bold"/>
                <a:ea typeface="Comic Sans Bold"/>
                <a:cs typeface="Comic Sans Bold"/>
                <a:sym typeface="Comic Sans Bold"/>
              </a:rPr>
              <a:t>Cybersecurity awareness reduces risk significantly.</a:t>
            </a:r>
          </a:p>
          <a:p>
            <a:pPr marL="580174" lvl="1" indent="-290087" algn="just">
              <a:lnSpc>
                <a:spcPts val="3762"/>
              </a:lnSpc>
              <a:buFont typeface="Arial"/>
              <a:buChar char="•"/>
            </a:pPr>
            <a:r>
              <a:rPr lang="en-US" sz="2687" b="1">
                <a:solidFill>
                  <a:srgbClr val="182D88"/>
                </a:solidFill>
                <a:latin typeface="Comic Sans Bold"/>
                <a:ea typeface="Comic Sans Bold"/>
                <a:cs typeface="Comic Sans Bold"/>
                <a:sym typeface="Comic Sans Bold"/>
              </a:rPr>
              <a:t>Always verify before clicking links or sharing information.</a:t>
            </a:r>
          </a:p>
          <a:p>
            <a:pPr algn="just">
              <a:lnSpc>
                <a:spcPts val="3762"/>
              </a:lnSpc>
            </a:pPr>
            <a:r>
              <a:rPr lang="en-US" sz="2687" b="1">
                <a:solidFill>
                  <a:srgbClr val="182D88"/>
                </a:solidFill>
                <a:latin typeface="Comic Sans Bold"/>
                <a:ea typeface="Comic Sans Bold"/>
                <a:cs typeface="Comic Sans Bold"/>
                <a:sym typeface="Comic Sans Bold"/>
              </a:rPr>
              <a:t>Final Thought</a:t>
            </a:r>
          </a:p>
          <a:p>
            <a:pPr algn="just">
              <a:lnSpc>
                <a:spcPts val="3762"/>
              </a:lnSpc>
            </a:pPr>
            <a:r>
              <a:rPr lang="en-US" sz="2687" b="1">
                <a:solidFill>
                  <a:srgbClr val="182D88"/>
                </a:solidFill>
                <a:latin typeface="Comic Sans Bold"/>
                <a:ea typeface="Comic Sans Bold"/>
                <a:cs typeface="Comic Sans Bold"/>
                <a:sym typeface="Comic Sans Bold"/>
              </a:rPr>
              <a:t>“Think before you click.”</a:t>
            </a:r>
          </a:p>
          <a:p>
            <a:pPr marL="0" lvl="0" indent="0" algn="just">
              <a:lnSpc>
                <a:spcPts val="3291"/>
              </a:lnSpc>
              <a:spcBef>
                <a:spcPct val="0"/>
              </a:spcBef>
            </a:pPr>
            <a:endParaRPr lang="en-US" sz="2687" b="1">
              <a:solidFill>
                <a:srgbClr val="182D88"/>
              </a:solidFill>
              <a:latin typeface="Comic Sans Bold"/>
              <a:ea typeface="Comic Sans Bold"/>
              <a:cs typeface="Comic Sans Bold"/>
              <a:sym typeface="Comic Sans Bold"/>
            </a:endParaRPr>
          </a:p>
        </p:txBody>
      </p:sp>
      <p:sp>
        <p:nvSpPr>
          <p:cNvPr id="10" name="Freeform 10"/>
          <p:cNvSpPr/>
          <p:nvPr/>
        </p:nvSpPr>
        <p:spPr>
          <a:xfrm>
            <a:off x="2825347" y="213007"/>
            <a:ext cx="12637307" cy="5481432"/>
          </a:xfrm>
          <a:custGeom>
            <a:avLst/>
            <a:gdLst/>
            <a:ahLst/>
            <a:cxnLst/>
            <a:rect l="l" t="t" r="r" b="b"/>
            <a:pathLst>
              <a:path w="12637307" h="5481432">
                <a:moveTo>
                  <a:pt x="0" y="0"/>
                </a:moveTo>
                <a:lnTo>
                  <a:pt x="12637306" y="0"/>
                </a:lnTo>
                <a:lnTo>
                  <a:pt x="12637306" y="5481432"/>
                </a:lnTo>
                <a:lnTo>
                  <a:pt x="0" y="5481432"/>
                </a:lnTo>
                <a:lnTo>
                  <a:pt x="0" y="0"/>
                </a:lnTo>
                <a:close/>
              </a:path>
            </a:pathLst>
          </a:custGeom>
          <a:blipFill>
            <a:blip r:embed="rId5"/>
            <a:stretch>
              <a:fillRect/>
            </a:stretch>
          </a:blipFill>
        </p:spPr>
        <p:txBody>
          <a:bodyPr/>
          <a:lstStyle/>
          <a:p>
            <a:endParaRPr lang="en-US"/>
          </a:p>
        </p:txBody>
      </p:sp>
      <p:sp>
        <p:nvSpPr>
          <p:cNvPr id="11" name="Freeform 11"/>
          <p:cNvSpPr/>
          <p:nvPr/>
        </p:nvSpPr>
        <p:spPr>
          <a:xfrm>
            <a:off x="283125" y="857174"/>
            <a:ext cx="1641098" cy="1641098"/>
          </a:xfrm>
          <a:custGeom>
            <a:avLst/>
            <a:gdLst/>
            <a:ahLst/>
            <a:cxnLst/>
            <a:rect l="l" t="t" r="r" b="b"/>
            <a:pathLst>
              <a:path w="1641098" h="1641098">
                <a:moveTo>
                  <a:pt x="0" y="0"/>
                </a:moveTo>
                <a:lnTo>
                  <a:pt x="1641098" y="0"/>
                </a:lnTo>
                <a:lnTo>
                  <a:pt x="1641098" y="1641098"/>
                </a:lnTo>
                <a:lnTo>
                  <a:pt x="0" y="164109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54200" y="0"/>
            <a:ext cx="12816335" cy="4231174"/>
            <a:chOff x="0" y="0"/>
            <a:chExt cx="17088447" cy="5641565"/>
          </a:xfrm>
        </p:grpSpPr>
        <p:sp>
          <p:nvSpPr>
            <p:cNvPr id="3" name="TextBox 3"/>
            <p:cNvSpPr txBox="1"/>
            <p:nvPr/>
          </p:nvSpPr>
          <p:spPr>
            <a:xfrm>
              <a:off x="0" y="-323850"/>
              <a:ext cx="17088447" cy="3649570"/>
            </a:xfrm>
            <a:prstGeom prst="rect">
              <a:avLst/>
            </a:prstGeom>
          </p:spPr>
          <p:txBody>
            <a:bodyPr lIns="0" tIns="0" rIns="0" bIns="0" rtlCol="0" anchor="t">
              <a:spAutoFit/>
            </a:bodyPr>
            <a:lstStyle/>
            <a:p>
              <a:pPr algn="ctr">
                <a:lnSpc>
                  <a:spcPts val="22819"/>
                </a:lnSpc>
              </a:pPr>
              <a:r>
                <a:rPr lang="en-US" sz="16299" b="1" i="1" spc="-570">
                  <a:solidFill>
                    <a:srgbClr val="005AE0"/>
                  </a:solidFill>
                  <a:latin typeface="Cooper BT Bold Italics"/>
                  <a:ea typeface="Cooper BT Bold Italics"/>
                  <a:cs typeface="Cooper BT Bold Italics"/>
                  <a:sym typeface="Cooper BT Bold Italics"/>
                </a:rPr>
                <a:t>References</a:t>
              </a:r>
            </a:p>
          </p:txBody>
        </p:sp>
        <p:sp>
          <p:nvSpPr>
            <p:cNvPr id="4" name="TextBox 4"/>
            <p:cNvSpPr txBox="1"/>
            <p:nvPr/>
          </p:nvSpPr>
          <p:spPr>
            <a:xfrm>
              <a:off x="1138778" y="2008928"/>
              <a:ext cx="10223733" cy="3632637"/>
            </a:xfrm>
            <a:prstGeom prst="rect">
              <a:avLst/>
            </a:prstGeom>
          </p:spPr>
          <p:txBody>
            <a:bodyPr lIns="0" tIns="0" rIns="0" bIns="0" rtlCol="0" anchor="t">
              <a:spAutoFit/>
            </a:bodyPr>
            <a:lstStyle/>
            <a:p>
              <a:pPr algn="r">
                <a:lnSpc>
                  <a:spcPts val="22819"/>
                </a:lnSpc>
              </a:pPr>
              <a:endParaRPr/>
            </a:p>
          </p:txBody>
        </p:sp>
      </p:grpSp>
      <p:sp>
        <p:nvSpPr>
          <p:cNvPr id="5" name="TextBox 5"/>
          <p:cNvSpPr txBox="1"/>
          <p:nvPr/>
        </p:nvSpPr>
        <p:spPr>
          <a:xfrm>
            <a:off x="9139238" y="4652327"/>
            <a:ext cx="9525" cy="1811020"/>
          </a:xfrm>
          <a:prstGeom prst="rect">
            <a:avLst/>
          </a:prstGeom>
        </p:spPr>
        <p:txBody>
          <a:bodyPr lIns="0" tIns="0" rIns="0" bIns="0" rtlCol="0" anchor="t">
            <a:spAutoFit/>
          </a:bodyPr>
          <a:lstStyle/>
          <a:p>
            <a:pPr algn="ctr">
              <a:lnSpc>
                <a:spcPts val="7279"/>
              </a:lnSpc>
            </a:pPr>
            <a:endParaRPr/>
          </a:p>
          <a:p>
            <a:pPr algn="ctr">
              <a:lnSpc>
                <a:spcPts val="7279"/>
              </a:lnSpc>
            </a:pPr>
            <a:endParaRPr/>
          </a:p>
        </p:txBody>
      </p:sp>
      <p:sp>
        <p:nvSpPr>
          <p:cNvPr id="6" name="TextBox 6"/>
          <p:cNvSpPr txBox="1"/>
          <p:nvPr/>
        </p:nvSpPr>
        <p:spPr>
          <a:xfrm>
            <a:off x="358560" y="2781658"/>
            <a:ext cx="13484874" cy="6990633"/>
          </a:xfrm>
          <a:prstGeom prst="rect">
            <a:avLst/>
          </a:prstGeom>
        </p:spPr>
        <p:txBody>
          <a:bodyPr lIns="0" tIns="0" rIns="0" bIns="0" rtlCol="0" anchor="t">
            <a:spAutoFit/>
          </a:bodyPr>
          <a:lstStyle/>
          <a:p>
            <a:pPr algn="l">
              <a:lnSpc>
                <a:spcPts val="3714"/>
              </a:lnSpc>
            </a:pPr>
            <a:r>
              <a:rPr lang="en-US" sz="2653">
                <a:solidFill>
                  <a:srgbClr val="000000"/>
                </a:solidFill>
                <a:latin typeface="Comic Sans"/>
                <a:ea typeface="Comic Sans"/>
                <a:cs typeface="Comic Sans"/>
                <a:sym typeface="Comic Sans"/>
              </a:rPr>
              <a:t>CISA (2026) Recognize and Report Phishing. Available at: </a:t>
            </a:r>
            <a:r>
              <a:rPr lang="en-US" sz="2653" u="sng">
                <a:solidFill>
                  <a:srgbClr val="000000"/>
                </a:solidFill>
                <a:latin typeface="Comic Sans"/>
                <a:ea typeface="Comic Sans"/>
                <a:cs typeface="Comic Sans"/>
                <a:sym typeface="Comic Sans"/>
                <a:hlinkClick r:id="rId2" tooltip="https://www.cisa.gov/secure-our-world/recognize-and-report-phishing?utm_source=chatgpt.com"/>
              </a:rPr>
              <a:t>https://www.cisa.gov/secure-our-world/recognize-and-report-phishing</a:t>
            </a:r>
            <a:r>
              <a:rPr lang="en-US" sz="2653">
                <a:solidFill>
                  <a:srgbClr val="000000"/>
                </a:solidFill>
                <a:latin typeface="Comic Sans"/>
                <a:ea typeface="Comic Sans"/>
                <a:cs typeface="Comic Sans"/>
                <a:sym typeface="Comic Sans"/>
              </a:rPr>
              <a:t> (Accessed: 12 May 2026).</a:t>
            </a:r>
          </a:p>
          <a:p>
            <a:pPr algn="l">
              <a:lnSpc>
                <a:spcPts val="3714"/>
              </a:lnSpc>
              <a:spcBef>
                <a:spcPct val="0"/>
              </a:spcBef>
            </a:pPr>
            <a:r>
              <a:rPr lang="en-US" sz="2653">
                <a:solidFill>
                  <a:srgbClr val="000000"/>
                </a:solidFill>
                <a:latin typeface="Comic Sans"/>
                <a:ea typeface="Comic Sans"/>
                <a:cs typeface="Comic Sans"/>
                <a:sym typeface="Comic Sans"/>
              </a:rPr>
              <a:t>Microsoft (2026) Protect yourself from phishing. Available at: </a:t>
            </a:r>
            <a:r>
              <a:rPr lang="en-US" sz="2653" u="sng">
                <a:solidFill>
                  <a:srgbClr val="000000"/>
                </a:solidFill>
                <a:latin typeface="Comic Sans"/>
                <a:ea typeface="Comic Sans"/>
                <a:cs typeface="Comic Sans"/>
                <a:sym typeface="Comic Sans"/>
                <a:hlinkClick r:id="rId3" tooltip="https://support.microsoft.com/en-us/security/protect-yourself-from-phishing?utm_source=chatgpt.com"/>
              </a:rPr>
              <a:t>https://support.microsoft.com/en-us/security/protect-yourself-from-phishing</a:t>
            </a:r>
            <a:r>
              <a:rPr lang="en-US" sz="2653">
                <a:solidFill>
                  <a:srgbClr val="000000"/>
                </a:solidFill>
                <a:latin typeface="Comic Sans"/>
                <a:ea typeface="Comic Sans"/>
                <a:cs typeface="Comic Sans"/>
                <a:sym typeface="Comic Sans"/>
              </a:rPr>
              <a:t> (Accessed: 12 May 2026).</a:t>
            </a:r>
          </a:p>
          <a:p>
            <a:pPr algn="l">
              <a:lnSpc>
                <a:spcPts val="3714"/>
              </a:lnSpc>
              <a:spcBef>
                <a:spcPct val="0"/>
              </a:spcBef>
            </a:pPr>
            <a:r>
              <a:rPr lang="en-US" sz="2653">
                <a:solidFill>
                  <a:srgbClr val="000000"/>
                </a:solidFill>
                <a:latin typeface="Comic Sans"/>
                <a:ea typeface="Comic Sans"/>
                <a:cs typeface="Comic Sans"/>
                <a:sym typeface="Comic Sans"/>
              </a:rPr>
              <a:t>IBM (2026) What is phishing? Available at: </a:t>
            </a:r>
            <a:r>
              <a:rPr lang="en-US" sz="2653" u="sng">
                <a:solidFill>
                  <a:srgbClr val="000000"/>
                </a:solidFill>
                <a:latin typeface="Comic Sans"/>
                <a:ea typeface="Comic Sans"/>
                <a:cs typeface="Comic Sans"/>
                <a:sym typeface="Comic Sans"/>
                <a:hlinkClick r:id="rId4" tooltip="https://www.ibm.com/think/topics/phishing?utm_source=chatgpt.com"/>
              </a:rPr>
              <a:t>https://www.ibm.com/think/topics/phishing</a:t>
            </a:r>
            <a:r>
              <a:rPr lang="en-US" sz="2653">
                <a:solidFill>
                  <a:srgbClr val="000000"/>
                </a:solidFill>
                <a:latin typeface="Comic Sans"/>
                <a:ea typeface="Comic Sans"/>
                <a:cs typeface="Comic Sans"/>
                <a:sym typeface="Comic Sans"/>
              </a:rPr>
              <a:t> (Accessed: 12 May 2026).</a:t>
            </a:r>
          </a:p>
          <a:p>
            <a:pPr algn="l">
              <a:lnSpc>
                <a:spcPts val="3714"/>
              </a:lnSpc>
              <a:spcBef>
                <a:spcPct val="0"/>
              </a:spcBef>
            </a:pPr>
            <a:r>
              <a:rPr lang="en-US" sz="2653">
                <a:solidFill>
                  <a:srgbClr val="000000"/>
                </a:solidFill>
                <a:latin typeface="Comic Sans"/>
                <a:ea typeface="Comic Sans"/>
                <a:cs typeface="Comic Sans"/>
                <a:sym typeface="Comic Sans"/>
              </a:rPr>
              <a:t>Kaspersky (n.d.) Phishing scams and attacks: How to protect yourself. Available at: </a:t>
            </a:r>
            <a:r>
              <a:rPr lang="en-US" sz="2653" u="sng">
                <a:solidFill>
                  <a:srgbClr val="000000"/>
                </a:solidFill>
                <a:latin typeface="Comic Sans"/>
                <a:ea typeface="Comic Sans"/>
                <a:cs typeface="Comic Sans"/>
                <a:sym typeface="Comic Sans"/>
                <a:hlinkClick r:id="rId5" tooltip="https://www.kaspersky.com/resource-center/preemptive-safety/phishing-prevention-tips?utm_source=chatgpt.com"/>
              </a:rPr>
              <a:t>https://www.kaspersky.com/resource-center/preemptive-safety/phishing-prevention-tips</a:t>
            </a:r>
            <a:r>
              <a:rPr lang="en-US" sz="2653">
                <a:solidFill>
                  <a:srgbClr val="000000"/>
                </a:solidFill>
                <a:latin typeface="Comic Sans"/>
                <a:ea typeface="Comic Sans"/>
                <a:cs typeface="Comic Sans"/>
                <a:sym typeface="Comic Sans"/>
              </a:rPr>
              <a:t> (Accessed: 12 May 2026).</a:t>
            </a:r>
          </a:p>
          <a:p>
            <a:pPr algn="l">
              <a:lnSpc>
                <a:spcPts val="3714"/>
              </a:lnSpc>
              <a:spcBef>
                <a:spcPct val="0"/>
              </a:spcBef>
            </a:pPr>
            <a:r>
              <a:rPr lang="en-US" sz="2653">
                <a:solidFill>
                  <a:srgbClr val="000000"/>
                </a:solidFill>
                <a:latin typeface="Comic Sans"/>
                <a:ea typeface="Comic Sans"/>
                <a:cs typeface="Comic Sans"/>
                <a:sym typeface="Comic Sans"/>
              </a:rPr>
              <a:t>Norton (2024) 10 common phishing email examples to avoid phishing scams. Available at: </a:t>
            </a:r>
            <a:r>
              <a:rPr lang="en-US" sz="2653" u="sng">
                <a:solidFill>
                  <a:srgbClr val="000000"/>
                </a:solidFill>
                <a:latin typeface="Comic Sans"/>
                <a:ea typeface="Comic Sans"/>
                <a:cs typeface="Comic Sans"/>
                <a:sym typeface="Comic Sans"/>
                <a:hlinkClick r:id="rId6" tooltip="https://us.norton.com/blog/online-scams/phishing-email-examples?utm_source=chatgpt.com"/>
              </a:rPr>
              <a:t>https://us.norton.com/blog/online-scams/phishing-email-examples</a:t>
            </a:r>
            <a:r>
              <a:rPr lang="en-US" sz="2653">
                <a:solidFill>
                  <a:srgbClr val="000000"/>
                </a:solidFill>
                <a:latin typeface="Comic Sans"/>
                <a:ea typeface="Comic Sans"/>
                <a:cs typeface="Comic Sans"/>
                <a:sym typeface="Comic Sans"/>
              </a:rPr>
              <a:t> (Accessed: 12 May 2026).</a:t>
            </a:r>
          </a:p>
          <a:p>
            <a:pPr algn="l">
              <a:lnSpc>
                <a:spcPts val="3714"/>
              </a:lnSpc>
              <a:spcBef>
                <a:spcPct val="0"/>
              </a:spcBef>
            </a:pPr>
            <a:endParaRPr lang="en-US" sz="2653">
              <a:solidFill>
                <a:srgbClr val="000000"/>
              </a:solidFill>
              <a:latin typeface="Comic Sans"/>
              <a:ea typeface="Comic Sans"/>
              <a:cs typeface="Comic Sans"/>
              <a:sym typeface="Comic Sans"/>
            </a:endParaRPr>
          </a:p>
        </p:txBody>
      </p:sp>
      <p:sp>
        <p:nvSpPr>
          <p:cNvPr id="7" name="Freeform 7"/>
          <p:cNvSpPr/>
          <p:nvPr/>
        </p:nvSpPr>
        <p:spPr>
          <a:xfrm>
            <a:off x="2347606" y="270210"/>
            <a:ext cx="2013188" cy="2428187"/>
          </a:xfrm>
          <a:custGeom>
            <a:avLst/>
            <a:gdLst/>
            <a:ahLst/>
            <a:cxnLst/>
            <a:rect l="l" t="t" r="r" b="b"/>
            <a:pathLst>
              <a:path w="2013188" h="2428187">
                <a:moveTo>
                  <a:pt x="0" y="0"/>
                </a:moveTo>
                <a:lnTo>
                  <a:pt x="2013188" y="0"/>
                </a:lnTo>
                <a:lnTo>
                  <a:pt x="2013188" y="2428186"/>
                </a:lnTo>
                <a:lnTo>
                  <a:pt x="0" y="242818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2089</Words>
  <Application>Microsoft Office PowerPoint</Application>
  <PresentationFormat>Custom</PresentationFormat>
  <Paragraphs>213</Paragraphs>
  <Slides>14</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Comic Sans</vt:lpstr>
      <vt:lpstr>Calibri</vt:lpstr>
      <vt:lpstr>Cooper BT Bold Italics</vt:lpstr>
      <vt:lpstr>Comic Sans Bold</vt:lpstr>
      <vt:lpstr>TT Fors Bold</vt:lpstr>
      <vt:lpstr>Comic Sans Bold Italics</vt:lpstr>
      <vt:lpstr>Canva Sans Bold</vt:lpstr>
      <vt:lpstr>Arial</vt:lpstr>
      <vt:lpstr>Etna Sans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cp:lastModifiedBy>Zaina</cp:lastModifiedBy>
  <cp:revision>2</cp:revision>
  <dcterms:created xsi:type="dcterms:W3CDTF">2006-08-16T00:00:00Z</dcterms:created>
  <dcterms:modified xsi:type="dcterms:W3CDTF">2026-10-07T23:39:49Z</dcterms:modified>
  <dc:identifier>DAHJYo9g2n0</dc:identifier>
</cp:coreProperties>
</file>